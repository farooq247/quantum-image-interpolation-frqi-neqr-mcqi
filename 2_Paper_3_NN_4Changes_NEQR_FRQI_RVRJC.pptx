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57" r:id="rId3"/>
    <p:sldId id="258" r:id="rId4"/>
    <p:sldId id="259" r:id="rId5"/>
    <p:sldId id="260" r:id="rId6"/>
    <p:sldId id="262" r:id="rId7"/>
    <p:sldId id="263" r:id="rId8"/>
    <p:sldId id="264" r:id="rId9"/>
    <p:sldId id="265" r:id="rId10"/>
    <p:sldId id="266" r:id="rId11"/>
    <p:sldId id="267" r:id="rId12"/>
    <p:sldId id="268" r:id="rId13"/>
    <p:sldId id="272" r:id="rId14"/>
    <p:sldId id="273" r:id="rId15"/>
    <p:sldId id="275" r:id="rId16"/>
    <p:sldId id="276" r:id="rId17"/>
    <p:sldId id="274" r:id="rId18"/>
    <p:sldId id="270" r:id="rId19"/>
    <p:sldId id="271" r:id="rId20"/>
    <p:sldId id="261"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p:cViewPr>
        <p:scale>
          <a:sx n="75" d="100"/>
          <a:sy n="75" d="100"/>
        </p:scale>
        <p:origin x="-296" y="172"/>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88D9CC-4DF8-4302-AA7F-101B3EAE51C2}" type="datetimeFigureOut">
              <a:rPr lang="en-IN" smtClean="0"/>
              <a:pPr/>
              <a:t>17-06-2026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2342EF-D1D5-46E4-99CB-EA0C4A5C9CB3}" type="slidenum">
              <a:rPr lang="en-IN" smtClean="0"/>
              <a:pPr/>
              <a:t>‹#›</a:t>
            </a:fld>
            <a:endParaRPr lang="en-IN"/>
          </a:p>
        </p:txBody>
      </p:sp>
    </p:spTree>
    <p:extLst>
      <p:ext uri="{BB962C8B-B14F-4D97-AF65-F5344CB8AC3E}">
        <p14:creationId xmlns="" xmlns:p14="http://schemas.microsoft.com/office/powerpoint/2010/main" val="5418470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A2342EF-D1D5-46E4-99CB-EA0C4A5C9CB3}" type="slidenum">
              <a:rPr lang="en-IN" smtClean="0"/>
              <a:pPr/>
              <a:t>6</a:t>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A2342EF-D1D5-46E4-99CB-EA0C4A5C9CB3}" type="slidenum">
              <a:rPr lang="en-IN" smtClean="0"/>
              <a:pPr/>
              <a:t>19</a:t>
            </a:fld>
            <a:endParaRPr lang="en-IN"/>
          </a:p>
        </p:txBody>
      </p:sp>
    </p:spTree>
    <p:extLst>
      <p:ext uri="{BB962C8B-B14F-4D97-AF65-F5344CB8AC3E}">
        <p14:creationId xmlns="" xmlns:p14="http://schemas.microsoft.com/office/powerpoint/2010/main" val="25894386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4E64CF4B-4F39-4AC7-97A9-BBA11B813CE9}" type="datetimeFigureOut">
              <a:rPr lang="en-IN" smtClean="0"/>
              <a:pPr/>
              <a:t>17-06-2026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6F8A38D-24D0-4C13-A25B-64F1EF5BE83E}" type="slidenum">
              <a:rPr lang="en-IN" smtClean="0"/>
              <a:pPr/>
              <a:t>‹#›</a:t>
            </a:fld>
            <a:endParaRPr lang="en-IN"/>
          </a:p>
        </p:txBody>
      </p:sp>
    </p:spTree>
    <p:extLst>
      <p:ext uri="{BB962C8B-B14F-4D97-AF65-F5344CB8AC3E}">
        <p14:creationId xmlns="" xmlns:p14="http://schemas.microsoft.com/office/powerpoint/2010/main" val="21380864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E64CF4B-4F39-4AC7-97A9-BBA11B813CE9}" type="datetimeFigureOut">
              <a:rPr lang="en-IN" smtClean="0"/>
              <a:pPr/>
              <a:t>17-06-2026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6F8A38D-24D0-4C13-A25B-64F1EF5BE83E}" type="slidenum">
              <a:rPr lang="en-IN" smtClean="0"/>
              <a:pPr/>
              <a:t>‹#›</a:t>
            </a:fld>
            <a:endParaRPr lang="en-IN"/>
          </a:p>
        </p:txBody>
      </p:sp>
    </p:spTree>
    <p:extLst>
      <p:ext uri="{BB962C8B-B14F-4D97-AF65-F5344CB8AC3E}">
        <p14:creationId xmlns="" xmlns:p14="http://schemas.microsoft.com/office/powerpoint/2010/main" val="23975706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E64CF4B-4F39-4AC7-97A9-BBA11B813CE9}" type="datetimeFigureOut">
              <a:rPr lang="en-IN" smtClean="0"/>
              <a:pPr/>
              <a:t>17-06-2026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6F8A38D-24D0-4C13-A25B-64F1EF5BE83E}" type="slidenum">
              <a:rPr lang="en-IN" smtClean="0"/>
              <a:pPr/>
              <a:t>‹#›</a:t>
            </a:fld>
            <a:endParaRPr lang="en-IN"/>
          </a:p>
        </p:txBody>
      </p:sp>
    </p:spTree>
    <p:extLst>
      <p:ext uri="{BB962C8B-B14F-4D97-AF65-F5344CB8AC3E}">
        <p14:creationId xmlns="" xmlns:p14="http://schemas.microsoft.com/office/powerpoint/2010/main" val="32630854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4E64CF4B-4F39-4AC7-97A9-BBA11B813CE9}" type="datetimeFigureOut">
              <a:rPr lang="en-IN" smtClean="0"/>
              <a:pPr/>
              <a:t>17-06-2026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6F8A38D-24D0-4C13-A25B-64F1EF5BE83E}" type="slidenum">
              <a:rPr lang="en-IN" smtClean="0"/>
              <a:pPr/>
              <a:t>‹#›</a:t>
            </a:fld>
            <a:endParaRPr lang="en-IN"/>
          </a:p>
        </p:txBody>
      </p:sp>
    </p:spTree>
    <p:extLst>
      <p:ext uri="{BB962C8B-B14F-4D97-AF65-F5344CB8AC3E}">
        <p14:creationId xmlns="" xmlns:p14="http://schemas.microsoft.com/office/powerpoint/2010/main" val="36785794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4E64CF4B-4F39-4AC7-97A9-BBA11B813CE9}" type="datetimeFigureOut">
              <a:rPr lang="en-IN" smtClean="0"/>
              <a:pPr/>
              <a:t>17-06-2026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6F8A38D-24D0-4C13-A25B-64F1EF5BE83E}" type="slidenum">
              <a:rPr lang="en-IN" smtClean="0"/>
              <a:pPr/>
              <a:t>‹#›</a:t>
            </a:fld>
            <a:endParaRPr lang="en-IN"/>
          </a:p>
        </p:txBody>
      </p:sp>
    </p:spTree>
    <p:extLst>
      <p:ext uri="{BB962C8B-B14F-4D97-AF65-F5344CB8AC3E}">
        <p14:creationId xmlns="" xmlns:p14="http://schemas.microsoft.com/office/powerpoint/2010/main" val="17821588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4E64CF4B-4F39-4AC7-97A9-BBA11B813CE9}" type="datetimeFigureOut">
              <a:rPr lang="en-IN" smtClean="0"/>
              <a:pPr/>
              <a:t>17-06-2026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6F8A38D-24D0-4C13-A25B-64F1EF5BE83E}" type="slidenum">
              <a:rPr lang="en-IN" smtClean="0"/>
              <a:pPr/>
              <a:t>‹#›</a:t>
            </a:fld>
            <a:endParaRPr lang="en-IN"/>
          </a:p>
        </p:txBody>
      </p:sp>
    </p:spTree>
    <p:extLst>
      <p:ext uri="{BB962C8B-B14F-4D97-AF65-F5344CB8AC3E}">
        <p14:creationId xmlns="" xmlns:p14="http://schemas.microsoft.com/office/powerpoint/2010/main" val="12589538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64CF4B-4F39-4AC7-97A9-BBA11B813CE9}" type="datetimeFigureOut">
              <a:rPr lang="en-IN" smtClean="0"/>
              <a:pPr/>
              <a:t>17-06-2026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6F8A38D-24D0-4C13-A25B-64F1EF5BE83E}" type="slidenum">
              <a:rPr lang="en-IN" smtClean="0"/>
              <a:pPr/>
              <a:t>‹#›</a:t>
            </a:fld>
            <a:endParaRPr lang="en-IN"/>
          </a:p>
        </p:txBody>
      </p:sp>
    </p:spTree>
    <p:extLst>
      <p:ext uri="{BB962C8B-B14F-4D97-AF65-F5344CB8AC3E}">
        <p14:creationId xmlns="" xmlns:p14="http://schemas.microsoft.com/office/powerpoint/2010/main" val="22263500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E64CF4B-4F39-4AC7-97A9-BBA11B813CE9}" type="datetimeFigureOut">
              <a:rPr lang="en-IN" smtClean="0"/>
              <a:pPr/>
              <a:t>17-06-2026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6F8A38D-24D0-4C13-A25B-64F1EF5BE83E}" type="slidenum">
              <a:rPr lang="en-IN" smtClean="0"/>
              <a:pPr/>
              <a:t>‹#›</a:t>
            </a:fld>
            <a:endParaRPr lang="en-IN"/>
          </a:p>
        </p:txBody>
      </p:sp>
    </p:spTree>
    <p:extLst>
      <p:ext uri="{BB962C8B-B14F-4D97-AF65-F5344CB8AC3E}">
        <p14:creationId xmlns="" xmlns:p14="http://schemas.microsoft.com/office/powerpoint/2010/main" val="27222421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E64CF4B-4F39-4AC7-97A9-BBA11B813CE9}" type="datetimeFigureOut">
              <a:rPr lang="en-IN" smtClean="0"/>
              <a:pPr/>
              <a:t>17-06-2026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6F8A38D-24D0-4C13-A25B-64F1EF5BE83E}" type="slidenum">
              <a:rPr lang="en-IN" smtClean="0"/>
              <a:pPr/>
              <a:t>‹#›</a:t>
            </a:fld>
            <a:endParaRPr lang="en-IN"/>
          </a:p>
        </p:txBody>
      </p:sp>
    </p:spTree>
    <p:extLst>
      <p:ext uri="{BB962C8B-B14F-4D97-AF65-F5344CB8AC3E}">
        <p14:creationId xmlns="" xmlns:p14="http://schemas.microsoft.com/office/powerpoint/2010/main" val="24558461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E64CF4B-4F39-4AC7-97A9-BBA11B813CE9}" type="datetimeFigureOut">
              <a:rPr lang="en-IN" smtClean="0"/>
              <a:pPr/>
              <a:t>17-06-2026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6F8A38D-24D0-4C13-A25B-64F1EF5BE83E}" type="slidenum">
              <a:rPr lang="en-IN" smtClean="0"/>
              <a:pPr/>
              <a:t>‹#›</a:t>
            </a:fld>
            <a:endParaRPr lang="en-IN"/>
          </a:p>
        </p:txBody>
      </p:sp>
    </p:spTree>
    <p:extLst>
      <p:ext uri="{BB962C8B-B14F-4D97-AF65-F5344CB8AC3E}">
        <p14:creationId xmlns="" xmlns:p14="http://schemas.microsoft.com/office/powerpoint/2010/main" val="5468608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E64CF4B-4F39-4AC7-97A9-BBA11B813CE9}" type="datetimeFigureOut">
              <a:rPr lang="en-IN" smtClean="0"/>
              <a:pPr/>
              <a:t>17-06-2026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6F8A38D-24D0-4C13-A25B-64F1EF5BE83E}" type="slidenum">
              <a:rPr lang="en-IN" smtClean="0"/>
              <a:pPr/>
              <a:t>‹#›</a:t>
            </a:fld>
            <a:endParaRPr lang="en-IN"/>
          </a:p>
        </p:txBody>
      </p:sp>
    </p:spTree>
    <p:extLst>
      <p:ext uri="{BB962C8B-B14F-4D97-AF65-F5344CB8AC3E}">
        <p14:creationId xmlns="" xmlns:p14="http://schemas.microsoft.com/office/powerpoint/2010/main" val="11870506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64CF4B-4F39-4AC7-97A9-BBA11B813CE9}" type="datetimeFigureOut">
              <a:rPr lang="en-IN" smtClean="0"/>
              <a:pPr/>
              <a:t>17-06-2026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F8A38D-24D0-4C13-A25B-64F1EF5BE83E}" type="slidenum">
              <a:rPr lang="en-IN" smtClean="0"/>
              <a:pPr/>
              <a:t>‹#›</a:t>
            </a:fld>
            <a:endParaRPr lang="en-IN"/>
          </a:p>
        </p:txBody>
      </p:sp>
    </p:spTree>
    <p:extLst>
      <p:ext uri="{BB962C8B-B14F-4D97-AF65-F5344CB8AC3E}">
        <p14:creationId xmlns="" xmlns:p14="http://schemas.microsoft.com/office/powerpoint/2010/main" val="8781250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133601" y="1056024"/>
            <a:ext cx="8356600" cy="1200329"/>
          </a:xfrm>
          <a:prstGeom prst="rect">
            <a:avLst/>
          </a:prstGeom>
          <a:noFill/>
        </p:spPr>
        <p:txBody>
          <a:bodyPr wrap="square" rtlCol="0">
            <a:spAutoFit/>
          </a:bodyPr>
          <a:lstStyle/>
          <a:p>
            <a:pPr algn="just">
              <a:lnSpc>
                <a:spcPct val="150000"/>
              </a:lnSpc>
            </a:pPr>
            <a:r>
              <a:rPr lang="en-US" sz="2400" b="1" dirty="0" smtClean="0">
                <a:latin typeface="Times New Roman" panose="02020603050405020304" pitchFamily="18" charset="0"/>
                <a:cs typeface="Times New Roman" panose="02020603050405020304" pitchFamily="18" charset="0"/>
              </a:rPr>
              <a:t>     Image </a:t>
            </a:r>
            <a:r>
              <a:rPr lang="en-US" sz="2400" b="1" dirty="0">
                <a:latin typeface="Times New Roman" panose="02020603050405020304" pitchFamily="18" charset="0"/>
                <a:cs typeface="Times New Roman" panose="02020603050405020304" pitchFamily="18" charset="0"/>
              </a:rPr>
              <a:t>Interpolation for Multi-Directional Scaling using </a:t>
            </a:r>
            <a:endParaRPr lang="en-IN" sz="2400" dirty="0" smtClean="0">
              <a:latin typeface="Times New Roman" panose="02020603050405020304" pitchFamily="18" charset="0"/>
              <a:cs typeface="Times New Roman" panose="02020603050405020304" pitchFamily="18" charset="0"/>
            </a:endParaRPr>
          </a:p>
          <a:p>
            <a:pPr algn="just">
              <a:lnSpc>
                <a:spcPct val="150000"/>
              </a:lnSpc>
            </a:pPr>
            <a:r>
              <a:rPr lang="en-US" sz="2400" b="1" dirty="0" smtClean="0">
                <a:latin typeface="Times New Roman" panose="02020603050405020304" pitchFamily="18" charset="0"/>
                <a:cs typeface="Times New Roman" panose="02020603050405020304" pitchFamily="18" charset="0"/>
              </a:rPr>
              <a:t>FRQI &amp; NEQR for Gray Images and MCQI for Color Images</a:t>
            </a:r>
            <a:endParaRPr lang="en-IN" sz="2400" dirty="0">
              <a:latin typeface="Times New Roman" panose="02020603050405020304" pitchFamily="18" charset="0"/>
              <a:cs typeface="Times New Roman" panose="02020603050405020304" pitchFamily="18" charset="0"/>
            </a:endParaRPr>
          </a:p>
        </p:txBody>
      </p:sp>
      <p:sp>
        <p:nvSpPr>
          <p:cNvPr id="3" name="TextBox 2"/>
          <p:cNvSpPr txBox="1"/>
          <p:nvPr/>
        </p:nvSpPr>
        <p:spPr>
          <a:xfrm>
            <a:off x="2964873" y="3823854"/>
            <a:ext cx="6123709" cy="1754326"/>
          </a:xfrm>
          <a:prstGeom prst="rect">
            <a:avLst/>
          </a:prstGeom>
          <a:noFill/>
        </p:spPr>
        <p:txBody>
          <a:bodyPr wrap="square" rtlCol="0">
            <a:spAutoFit/>
          </a:bodyPr>
          <a:lstStyle/>
          <a:p>
            <a:pPr algn="ctr"/>
            <a:r>
              <a:rPr lang="en-US" dirty="0" smtClean="0">
                <a:latin typeface="Times New Roman" panose="02020603050405020304" pitchFamily="18" charset="0"/>
                <a:cs typeface="Times New Roman" panose="02020603050405020304" pitchFamily="18" charset="0"/>
              </a:rPr>
              <a:t>By</a:t>
            </a:r>
          </a:p>
          <a:p>
            <a:pPr algn="ctr"/>
            <a:r>
              <a:rPr lang="en-US" dirty="0" smtClean="0">
                <a:latin typeface="Times New Roman" panose="02020603050405020304" pitchFamily="18" charset="0"/>
                <a:cs typeface="Times New Roman" panose="02020603050405020304" pitchFamily="18" charset="0"/>
              </a:rPr>
              <a:t>A:dfasdfasdfasdfas</a:t>
            </a:r>
          </a:p>
          <a:p>
            <a:pPr algn="ctr"/>
            <a:r>
              <a:rPr lang="en-US" dirty="0" smtClean="0">
                <a:latin typeface="Times New Roman" panose="02020603050405020304" pitchFamily="18" charset="0"/>
                <a:cs typeface="Times New Roman" panose="02020603050405020304" pitchFamily="18" charset="0"/>
              </a:rPr>
              <a:t>B:asdfasdfasdfasd</a:t>
            </a:r>
          </a:p>
          <a:p>
            <a:pPr algn="ctr"/>
            <a:r>
              <a:rPr lang="en-US" dirty="0" smtClean="0">
                <a:latin typeface="Times New Roman" panose="02020603050405020304" pitchFamily="18" charset="0"/>
                <a:cs typeface="Times New Roman" panose="02020603050405020304" pitchFamily="18" charset="0"/>
              </a:rPr>
              <a:t>C:asdfasdfasdf</a:t>
            </a:r>
          </a:p>
          <a:p>
            <a:pPr algn="ctr"/>
            <a:r>
              <a:rPr lang="en-US" dirty="0" smtClean="0">
                <a:latin typeface="Times New Roman" panose="02020603050405020304" pitchFamily="18" charset="0"/>
                <a:cs typeface="Times New Roman" panose="02020603050405020304" pitchFamily="18" charset="0"/>
              </a:rPr>
              <a:t>D:asdfasfasdfsdf</a:t>
            </a:r>
          </a:p>
          <a:p>
            <a:pPr algn="ct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Dr.U.S.N.Raju</a:t>
            </a:r>
            <a:r>
              <a:rPr lang="en-US" dirty="0" smtClean="0">
                <a:latin typeface="Times New Roman" panose="02020603050405020304" pitchFamily="18" charset="0"/>
                <a:cs typeface="Times New Roman" panose="02020603050405020304" pitchFamily="18" charset="0"/>
              </a:rPr>
              <a:t>, Associate Professor, NIT Warangal</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37035662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61931" y="848975"/>
            <a:ext cx="2328335" cy="461665"/>
          </a:xfrm>
          <a:prstGeom prst="rect">
            <a:avLst/>
          </a:prstGeom>
          <a:noFill/>
        </p:spPr>
        <p:txBody>
          <a:bodyPr wrap="square" rtlCol="0">
            <a:spAutoFit/>
          </a:bodyPr>
          <a:lstStyle/>
          <a:p>
            <a:pPr algn="ctr"/>
            <a:r>
              <a:rPr lang="en-US" sz="2400" b="1" dirty="0" smtClean="0">
                <a:latin typeface="Times" panose="02020603050405020304" pitchFamily="18" charset="0"/>
                <a:cs typeface="Times" panose="02020603050405020304" pitchFamily="18" charset="0"/>
              </a:rPr>
              <a:t>   ABSTRACT</a:t>
            </a:r>
            <a:endParaRPr lang="en-IN" sz="2400" dirty="0">
              <a:latin typeface="Times" panose="02020603050405020304" pitchFamily="18" charset="0"/>
              <a:cs typeface="Times" panose="02020603050405020304" pitchFamily="18" charset="0"/>
            </a:endParaRPr>
          </a:p>
        </p:txBody>
      </p:sp>
      <p:sp>
        <p:nvSpPr>
          <p:cNvPr id="3" name="TextBox 2"/>
          <p:cNvSpPr txBox="1"/>
          <p:nvPr/>
        </p:nvSpPr>
        <p:spPr>
          <a:xfrm>
            <a:off x="1083733" y="1759375"/>
            <a:ext cx="9914467" cy="3785652"/>
          </a:xfrm>
          <a:prstGeom prst="rect">
            <a:avLst/>
          </a:prstGeom>
          <a:noFill/>
        </p:spPr>
        <p:txBody>
          <a:bodyPr wrap="square" rtlCol="0">
            <a:spAutoFit/>
          </a:bodyPr>
          <a:lstStyle/>
          <a:p>
            <a:pPr marL="342900" indent="-342900" algn="just">
              <a:buFont typeface="Arial" panose="020B0604020202020204" pitchFamily="34" charset="0"/>
              <a:buChar char="•"/>
            </a:pPr>
            <a:r>
              <a:rPr lang="en-IN" sz="2000" dirty="0">
                <a:latin typeface="Times" panose="02020603050405020304" pitchFamily="18" charset="0"/>
                <a:cs typeface="Times" panose="02020603050405020304" pitchFamily="18" charset="0"/>
              </a:rPr>
              <a:t>Quantum image processing is much efficient and faster than classical image processing. We proposed methods for Image Interpolation using quantum circuits and gates. </a:t>
            </a:r>
            <a:endParaRPr lang="en-IN" sz="2000" dirty="0" smtClean="0">
              <a:latin typeface="Times" panose="02020603050405020304" pitchFamily="18" charset="0"/>
              <a:cs typeface="Times" panose="02020603050405020304" pitchFamily="18" charset="0"/>
            </a:endParaRPr>
          </a:p>
          <a:p>
            <a:pPr marL="342900" indent="-342900" algn="just">
              <a:buFont typeface="Arial" panose="020B0604020202020204" pitchFamily="34" charset="0"/>
              <a:buChar char="•"/>
            </a:pPr>
            <a:endParaRPr lang="en-IN" sz="2000" dirty="0">
              <a:latin typeface="Times" panose="02020603050405020304" pitchFamily="18" charset="0"/>
              <a:cs typeface="Times" panose="02020603050405020304" pitchFamily="18" charset="0"/>
            </a:endParaRPr>
          </a:p>
          <a:p>
            <a:pPr marL="342900" indent="-342900" algn="just">
              <a:buFont typeface="Arial" panose="020B0604020202020204" pitchFamily="34" charset="0"/>
              <a:buChar char="•"/>
            </a:pPr>
            <a:r>
              <a:rPr lang="en-IN" sz="2000" dirty="0" smtClean="0">
                <a:latin typeface="Times" panose="02020603050405020304" pitchFamily="18" charset="0"/>
                <a:cs typeface="Times" panose="02020603050405020304" pitchFamily="18" charset="0"/>
              </a:rPr>
              <a:t>The </a:t>
            </a:r>
            <a:r>
              <a:rPr lang="en-IN" sz="2000" dirty="0">
                <a:latin typeface="Times" panose="02020603050405020304" pitchFamily="18" charset="0"/>
                <a:cs typeface="Times" panose="02020603050405020304" pitchFamily="18" charset="0"/>
              </a:rPr>
              <a:t>work focuses on low-resolution images and </a:t>
            </a:r>
            <a:r>
              <a:rPr lang="en-IN" sz="2000" dirty="0" err="1">
                <a:latin typeface="Times" panose="02020603050405020304" pitchFamily="18" charset="0"/>
                <a:cs typeface="Times" panose="02020603050405020304" pitchFamily="18" charset="0"/>
              </a:rPr>
              <a:t>upscales</a:t>
            </a:r>
            <a:r>
              <a:rPr lang="en-IN" sz="2000" dirty="0">
                <a:latin typeface="Times" panose="02020603050405020304" pitchFamily="18" charset="0"/>
                <a:cs typeface="Times" panose="02020603050405020304" pitchFamily="18" charset="0"/>
              </a:rPr>
              <a:t> the image, which is then implemented through quantum circuits using </a:t>
            </a:r>
            <a:r>
              <a:rPr lang="en-IN" sz="2000" dirty="0" err="1">
                <a:latin typeface="Times" panose="02020603050405020304" pitchFamily="18" charset="0"/>
                <a:cs typeface="Times" panose="02020603050405020304" pitchFamily="18" charset="0"/>
              </a:rPr>
              <a:t>gray</a:t>
            </a:r>
            <a:r>
              <a:rPr lang="en-IN" sz="2000" dirty="0">
                <a:latin typeface="Times" panose="02020603050405020304" pitchFamily="18" charset="0"/>
                <a:cs typeface="Times" panose="02020603050405020304" pitchFamily="18" charset="0"/>
              </a:rPr>
              <a:t> and </a:t>
            </a:r>
            <a:r>
              <a:rPr lang="en-IN" sz="2000" dirty="0" err="1">
                <a:latin typeface="Times" panose="02020603050405020304" pitchFamily="18" charset="0"/>
                <a:cs typeface="Times" panose="02020603050405020304" pitchFamily="18" charset="0"/>
              </a:rPr>
              <a:t>color</a:t>
            </a:r>
            <a:r>
              <a:rPr lang="en-IN" sz="2000" dirty="0">
                <a:latin typeface="Times" panose="02020603050405020304" pitchFamily="18" charset="0"/>
                <a:cs typeface="Times" panose="02020603050405020304" pitchFamily="18" charset="0"/>
              </a:rPr>
              <a:t> images by using methods such as FRQI, NEQR for </a:t>
            </a:r>
            <a:r>
              <a:rPr lang="en-IN" sz="2000" dirty="0" err="1">
                <a:latin typeface="Times" panose="02020603050405020304" pitchFamily="18" charset="0"/>
                <a:cs typeface="Times" panose="02020603050405020304" pitchFamily="18" charset="0"/>
              </a:rPr>
              <a:t>gray</a:t>
            </a:r>
            <a:r>
              <a:rPr lang="en-IN" sz="2000" dirty="0">
                <a:latin typeface="Times" panose="02020603050405020304" pitchFamily="18" charset="0"/>
                <a:cs typeface="Times" panose="02020603050405020304" pitchFamily="18" charset="0"/>
              </a:rPr>
              <a:t> images, and MCQI for </a:t>
            </a:r>
            <a:r>
              <a:rPr lang="en-IN" sz="2000" dirty="0" err="1">
                <a:latin typeface="Times" panose="02020603050405020304" pitchFamily="18" charset="0"/>
                <a:cs typeface="Times" panose="02020603050405020304" pitchFamily="18" charset="0"/>
              </a:rPr>
              <a:t>color</a:t>
            </a:r>
            <a:r>
              <a:rPr lang="en-IN" sz="2000" dirty="0">
                <a:latin typeface="Times" panose="02020603050405020304" pitchFamily="18" charset="0"/>
                <a:cs typeface="Times" panose="02020603050405020304" pitchFamily="18" charset="0"/>
              </a:rPr>
              <a:t> images. </a:t>
            </a:r>
            <a:endParaRPr lang="en-IN" sz="2000" dirty="0" smtClean="0">
              <a:latin typeface="Times" panose="02020603050405020304" pitchFamily="18" charset="0"/>
              <a:cs typeface="Times" panose="02020603050405020304" pitchFamily="18" charset="0"/>
            </a:endParaRPr>
          </a:p>
          <a:p>
            <a:pPr marL="342900" indent="-342900" algn="just">
              <a:buFont typeface="Arial" panose="020B0604020202020204" pitchFamily="34" charset="0"/>
              <a:buChar char="•"/>
            </a:pPr>
            <a:endParaRPr lang="en-IN" sz="2000" dirty="0">
              <a:latin typeface="Times" panose="02020603050405020304" pitchFamily="18" charset="0"/>
              <a:cs typeface="Times" panose="02020603050405020304" pitchFamily="18" charset="0"/>
            </a:endParaRPr>
          </a:p>
          <a:p>
            <a:pPr marL="342900" indent="-342900" algn="just">
              <a:buFont typeface="Arial" panose="020B0604020202020204" pitchFamily="34" charset="0"/>
              <a:buChar char="•"/>
            </a:pPr>
            <a:r>
              <a:rPr lang="en-IN" sz="2000" dirty="0" smtClean="0">
                <a:latin typeface="Times" panose="02020603050405020304" pitchFamily="18" charset="0"/>
                <a:cs typeface="Times" panose="02020603050405020304" pitchFamily="18" charset="0"/>
              </a:rPr>
              <a:t>After </a:t>
            </a:r>
            <a:r>
              <a:rPr lang="en-IN" sz="2000" dirty="0">
                <a:latin typeface="Times" panose="02020603050405020304" pitchFamily="18" charset="0"/>
                <a:cs typeface="Times" panose="02020603050405020304" pitchFamily="18" charset="0"/>
              </a:rPr>
              <a:t>upscaling the image, we apply quantum gates on position qubits, and these are rearranged with the previous position qubits, which leads to the rearrangement of pixel locations and creates different images like image replication, horizontal stretching, and vertical stretching</a:t>
            </a:r>
            <a:r>
              <a:rPr lang="en-IN" sz="2000" dirty="0" smtClean="0">
                <a:latin typeface="Times" panose="02020603050405020304" pitchFamily="18" charset="0"/>
                <a:cs typeface="Times" panose="02020603050405020304" pitchFamily="18" charset="0"/>
              </a:rPr>
              <a:t>.</a:t>
            </a:r>
          </a:p>
          <a:p>
            <a:pPr algn="just"/>
            <a:endParaRPr lang="en-IN" sz="2000" dirty="0">
              <a:latin typeface="Times" panose="02020603050405020304" pitchFamily="18" charset="0"/>
              <a:cs typeface="Times" panose="02020603050405020304" pitchFamily="18" charset="0"/>
            </a:endParaRPr>
          </a:p>
        </p:txBody>
      </p:sp>
    </p:spTree>
    <p:extLst>
      <p:ext uri="{BB962C8B-B14F-4D97-AF65-F5344CB8AC3E}">
        <p14:creationId xmlns="" xmlns:p14="http://schemas.microsoft.com/office/powerpoint/2010/main" val="27471619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63534" y="448733"/>
            <a:ext cx="2717799" cy="461665"/>
          </a:xfrm>
          <a:prstGeom prst="rect">
            <a:avLst/>
          </a:prstGeom>
          <a:noFill/>
        </p:spPr>
        <p:txBody>
          <a:bodyPr wrap="square" rtlCol="0">
            <a:spAutoFit/>
          </a:bodyPr>
          <a:lstStyle/>
          <a:p>
            <a:pPr algn="ctr"/>
            <a:r>
              <a:rPr lang="en-US" sz="2400" b="1" dirty="0" smtClean="0">
                <a:latin typeface="Times New Roman" panose="02020603050405020304" pitchFamily="18" charset="0"/>
                <a:cs typeface="Times New Roman" panose="02020603050405020304" pitchFamily="18" charset="0"/>
              </a:rPr>
              <a:t>INTRODUCTION</a:t>
            </a:r>
            <a:endParaRPr lang="en-IN" sz="2400" b="1" dirty="0">
              <a:latin typeface="Times New Roman" panose="02020603050405020304" pitchFamily="18" charset="0"/>
              <a:cs typeface="Times New Roman" panose="02020603050405020304" pitchFamily="18" charset="0"/>
            </a:endParaRPr>
          </a:p>
        </p:txBody>
      </p:sp>
      <p:sp>
        <p:nvSpPr>
          <p:cNvPr id="3" name="TextBox 2"/>
          <p:cNvSpPr txBox="1"/>
          <p:nvPr/>
        </p:nvSpPr>
        <p:spPr>
          <a:xfrm>
            <a:off x="956733" y="999065"/>
            <a:ext cx="10337799" cy="4708981"/>
          </a:xfrm>
          <a:prstGeom prst="rect">
            <a:avLst/>
          </a:prstGeom>
          <a:noFill/>
        </p:spPr>
        <p:txBody>
          <a:bodyPr wrap="square" rtlCol="0">
            <a:spAutoFit/>
          </a:bodyPr>
          <a:lstStyle/>
          <a:p>
            <a:pPr marL="0" lvl="1" algn="just"/>
            <a:r>
              <a:rPr lang="en-US" sz="2000" b="1" dirty="0">
                <a:latin typeface="Times" panose="02020603050405020304" pitchFamily="18" charset="0"/>
                <a:cs typeface="Times" panose="02020603050405020304" pitchFamily="18" charset="0"/>
              </a:rPr>
              <a:t>Quantum </a:t>
            </a:r>
            <a:r>
              <a:rPr lang="en-US" sz="2000" b="1" dirty="0" smtClean="0">
                <a:latin typeface="Times" panose="02020603050405020304" pitchFamily="18" charset="0"/>
                <a:cs typeface="Times" panose="02020603050405020304" pitchFamily="18" charset="0"/>
              </a:rPr>
              <a:t>Computing</a:t>
            </a:r>
            <a:endParaRPr lang="en-IN" dirty="0" smtClean="0">
              <a:latin typeface="Times" panose="02020603050405020304" pitchFamily="18" charset="0"/>
              <a:cs typeface="Times" panose="02020603050405020304" pitchFamily="18" charset="0"/>
            </a:endParaRPr>
          </a:p>
          <a:p>
            <a:pPr marL="285750" indent="-285750" algn="just">
              <a:buFont typeface="Arial" panose="020B0604020202020204" pitchFamily="34" charset="0"/>
              <a:buChar char="•"/>
            </a:pPr>
            <a:r>
              <a:rPr lang="en-IN" sz="2000" dirty="0" smtClean="0">
                <a:latin typeface="Times" panose="02020603050405020304" pitchFamily="18" charset="0"/>
                <a:cs typeface="Times" panose="02020603050405020304" pitchFamily="18" charset="0"/>
              </a:rPr>
              <a:t>Quantum </a:t>
            </a:r>
            <a:r>
              <a:rPr lang="en-IN" sz="2000" dirty="0">
                <a:latin typeface="Times" panose="02020603050405020304" pitchFamily="18" charset="0"/>
                <a:cs typeface="Times" panose="02020603050405020304" pitchFamily="18" charset="0"/>
              </a:rPr>
              <a:t>computers mainly use </a:t>
            </a:r>
            <a:r>
              <a:rPr lang="en-IN" sz="2000" dirty="0" smtClean="0">
                <a:latin typeface="Times" panose="02020603050405020304" pitchFamily="18" charset="0"/>
                <a:cs typeface="Times" panose="02020603050405020304" pitchFamily="18" charset="0"/>
              </a:rPr>
              <a:t>quantum </a:t>
            </a:r>
            <a:r>
              <a:rPr lang="en-IN" sz="2000" dirty="0">
                <a:latin typeface="Times" panose="02020603050405020304" pitchFamily="18" charset="0"/>
                <a:cs typeface="Times" panose="02020603050405020304" pitchFamily="18" charset="0"/>
              </a:rPr>
              <a:t>superposition and entanglement to handle data. </a:t>
            </a:r>
            <a:endParaRPr lang="en-IN" sz="2000" dirty="0" smtClean="0">
              <a:latin typeface="Times" panose="02020603050405020304" pitchFamily="18" charset="0"/>
              <a:cs typeface="Times" panose="02020603050405020304" pitchFamily="18" charset="0"/>
            </a:endParaRPr>
          </a:p>
          <a:p>
            <a:pPr marL="285750" indent="-285750" algn="just">
              <a:buFont typeface="Arial" panose="020B0604020202020204" pitchFamily="34" charset="0"/>
              <a:buChar char="•"/>
            </a:pPr>
            <a:r>
              <a:rPr lang="en-IN" sz="2000" dirty="0" smtClean="0">
                <a:latin typeface="Times" panose="02020603050405020304" pitchFamily="18" charset="0"/>
                <a:cs typeface="Times" panose="02020603050405020304" pitchFamily="18" charset="0"/>
              </a:rPr>
              <a:t>From </a:t>
            </a:r>
            <a:r>
              <a:rPr lang="en-IN" sz="2000" dirty="0">
                <a:latin typeface="Times" panose="02020603050405020304" pitchFamily="18" charset="0"/>
                <a:cs typeface="Times" panose="02020603050405020304" pitchFamily="18" charset="0"/>
              </a:rPr>
              <a:t>this Quantum computing </a:t>
            </a:r>
            <a:r>
              <a:rPr lang="en-IN" sz="2000" dirty="0" smtClean="0">
                <a:latin typeface="Times" panose="02020603050405020304" pitchFamily="18" charset="0"/>
                <a:cs typeface="Times" panose="02020603050405020304" pitchFamily="18" charset="0"/>
              </a:rPr>
              <a:t>,we </a:t>
            </a:r>
            <a:r>
              <a:rPr lang="en-IN" sz="2000" dirty="0">
                <a:latin typeface="Times" panose="02020603050405020304" pitchFamily="18" charset="0"/>
                <a:cs typeface="Times" panose="02020603050405020304" pitchFamily="18" charset="0"/>
              </a:rPr>
              <a:t>are using the methods such as NEQR, FRQI and MCQI for the scaling of images. </a:t>
            </a:r>
            <a:endParaRPr lang="en-IN" sz="2000" dirty="0" smtClean="0">
              <a:latin typeface="Times" panose="02020603050405020304" pitchFamily="18" charset="0"/>
              <a:cs typeface="Times" panose="02020603050405020304" pitchFamily="18" charset="0"/>
            </a:endParaRPr>
          </a:p>
          <a:p>
            <a:pPr algn="just"/>
            <a:endParaRPr lang="en-IN" dirty="0" smtClean="0">
              <a:latin typeface="Times" panose="02020603050405020304" pitchFamily="18" charset="0"/>
              <a:cs typeface="Times" panose="02020603050405020304" pitchFamily="18" charset="0"/>
            </a:endParaRPr>
          </a:p>
          <a:p>
            <a:pPr marL="0" lvl="1" algn="just"/>
            <a:r>
              <a:rPr lang="en-US" sz="2000" b="1" dirty="0">
                <a:latin typeface="Times" panose="02020603050405020304" pitchFamily="18" charset="0"/>
                <a:cs typeface="Times" panose="02020603050405020304" pitchFamily="18" charset="0"/>
              </a:rPr>
              <a:t>Image </a:t>
            </a:r>
            <a:r>
              <a:rPr lang="en-US" sz="2000" b="1" dirty="0" smtClean="0">
                <a:latin typeface="Times" panose="02020603050405020304" pitchFamily="18" charset="0"/>
                <a:cs typeface="Times" panose="02020603050405020304" pitchFamily="18" charset="0"/>
              </a:rPr>
              <a:t>Processing</a:t>
            </a:r>
            <a:endParaRPr lang="en-IN" dirty="0">
              <a:latin typeface="Times" panose="02020603050405020304" pitchFamily="18" charset="0"/>
              <a:cs typeface="Times" panose="02020603050405020304" pitchFamily="18" charset="0"/>
            </a:endParaRPr>
          </a:p>
          <a:p>
            <a:pPr marL="285750" indent="-285750" algn="just">
              <a:buFont typeface="Arial" panose="020B0604020202020204" pitchFamily="34" charset="0"/>
              <a:buChar char="•"/>
            </a:pPr>
            <a:r>
              <a:rPr lang="en-IN" sz="2000" dirty="0" smtClean="0">
                <a:latin typeface="Times" panose="02020603050405020304" pitchFamily="18" charset="0"/>
                <a:cs typeface="Times" panose="02020603050405020304" pitchFamily="18" charset="0"/>
              </a:rPr>
              <a:t>Image Processing is nothing but processing of arrays i.e., giving array as input and getting array as output. </a:t>
            </a:r>
          </a:p>
          <a:p>
            <a:pPr marL="285750" indent="-285750" algn="just">
              <a:buFont typeface="Arial" panose="020B0604020202020204" pitchFamily="34" charset="0"/>
              <a:buChar char="•"/>
            </a:pPr>
            <a:r>
              <a:rPr lang="en-IN" sz="2000" dirty="0" smtClean="0">
                <a:latin typeface="Times" panose="02020603050405020304" pitchFamily="18" charset="0"/>
                <a:cs typeface="Times" panose="02020603050405020304" pitchFamily="18" charset="0"/>
              </a:rPr>
              <a:t>In </a:t>
            </a:r>
            <a:r>
              <a:rPr lang="en-IN" sz="2000" dirty="0">
                <a:latin typeface="Times" panose="02020603050405020304" pitchFamily="18" charset="0"/>
                <a:cs typeface="Times" panose="02020603050405020304" pitchFamily="18" charset="0"/>
              </a:rPr>
              <a:t>this, we take image and perform multi-directional scaling that can show the image in different types such as vertical stretching, horizontal stretching, zooming and replication of images</a:t>
            </a:r>
            <a:r>
              <a:rPr lang="en-IN" dirty="0" smtClean="0">
                <a:latin typeface="Times" panose="02020603050405020304" pitchFamily="18" charset="0"/>
                <a:cs typeface="Times" panose="02020603050405020304" pitchFamily="18" charset="0"/>
              </a:rPr>
              <a:t>.</a:t>
            </a:r>
          </a:p>
          <a:p>
            <a:pPr marL="285750" indent="-285750" algn="just">
              <a:buFont typeface="Arial" panose="020B0604020202020204" pitchFamily="34" charset="0"/>
              <a:buChar char="•"/>
            </a:pPr>
            <a:endParaRPr lang="en-US" sz="2400" b="1" dirty="0">
              <a:latin typeface="Times" panose="02020603050405020304" pitchFamily="18" charset="0"/>
              <a:cs typeface="Times" panose="02020603050405020304" pitchFamily="18" charset="0"/>
            </a:endParaRPr>
          </a:p>
          <a:p>
            <a:pPr algn="just"/>
            <a:r>
              <a:rPr lang="en-US" sz="2000" b="1" dirty="0" smtClean="0">
                <a:latin typeface="Times" panose="02020603050405020304" pitchFamily="18" charset="0"/>
                <a:cs typeface="Times" panose="02020603050405020304" pitchFamily="18" charset="0"/>
              </a:rPr>
              <a:t>Quantum Image Processing</a:t>
            </a:r>
            <a:endParaRPr lang="en-US" sz="2000" b="1" dirty="0">
              <a:latin typeface="Times" panose="02020603050405020304" pitchFamily="18" charset="0"/>
              <a:cs typeface="Times" panose="02020603050405020304" pitchFamily="18" charset="0"/>
            </a:endParaRPr>
          </a:p>
          <a:p>
            <a:pPr marL="342900" indent="-342900" algn="just">
              <a:buFont typeface="Arial" panose="020B0604020202020204" pitchFamily="34" charset="0"/>
              <a:buChar char="•"/>
            </a:pPr>
            <a:r>
              <a:rPr lang="en-US" sz="2000" dirty="0" smtClean="0">
                <a:latin typeface="Times" panose="02020603050405020304" pitchFamily="18" charset="0"/>
                <a:cs typeface="Times" panose="02020603050405020304" pitchFamily="18" charset="0"/>
              </a:rPr>
              <a:t>It is the combination of Quantum computing and Image processing.</a:t>
            </a:r>
          </a:p>
          <a:p>
            <a:pPr marL="342900" indent="-342900" algn="just">
              <a:buFont typeface="Arial" panose="020B0604020202020204" pitchFamily="34" charset="0"/>
              <a:buChar char="•"/>
            </a:pPr>
            <a:r>
              <a:rPr lang="en-IN" sz="2000" dirty="0">
                <a:latin typeface="Times" panose="02020603050405020304" pitchFamily="18" charset="0"/>
                <a:cs typeface="Times" panose="02020603050405020304" pitchFamily="18" charset="0"/>
              </a:rPr>
              <a:t>we are processing images using NEQR and FRQI for </a:t>
            </a:r>
            <a:r>
              <a:rPr lang="en-IN" sz="2000" dirty="0" err="1">
                <a:latin typeface="Times" panose="02020603050405020304" pitchFamily="18" charset="0"/>
                <a:cs typeface="Times" panose="02020603050405020304" pitchFamily="18" charset="0"/>
              </a:rPr>
              <a:t>gray</a:t>
            </a:r>
            <a:r>
              <a:rPr lang="en-IN" sz="2000" dirty="0">
                <a:latin typeface="Times" panose="02020603050405020304" pitchFamily="18" charset="0"/>
                <a:cs typeface="Times" panose="02020603050405020304" pitchFamily="18" charset="0"/>
              </a:rPr>
              <a:t> images and MCQI for </a:t>
            </a:r>
            <a:r>
              <a:rPr lang="en-IN" sz="2000" dirty="0" err="1">
                <a:latin typeface="Times" panose="02020603050405020304" pitchFamily="18" charset="0"/>
                <a:cs typeface="Times" panose="02020603050405020304" pitchFamily="18" charset="0"/>
              </a:rPr>
              <a:t>color</a:t>
            </a:r>
            <a:r>
              <a:rPr lang="en-IN" sz="2000" dirty="0">
                <a:latin typeface="Times" panose="02020603050405020304" pitchFamily="18" charset="0"/>
                <a:cs typeface="Times" panose="02020603050405020304" pitchFamily="18" charset="0"/>
              </a:rPr>
              <a:t> images</a:t>
            </a:r>
            <a:r>
              <a:rPr lang="en-IN" sz="2000" dirty="0" smtClean="0">
                <a:latin typeface="Times" panose="02020603050405020304" pitchFamily="18" charset="0"/>
                <a:cs typeface="Times" panose="02020603050405020304" pitchFamily="18" charset="0"/>
              </a:rPr>
              <a:t>. </a:t>
            </a:r>
          </a:p>
          <a:p>
            <a:pPr marL="342900" indent="-342900" algn="just">
              <a:buFont typeface="Arial" panose="020B0604020202020204" pitchFamily="34" charset="0"/>
              <a:buChar char="•"/>
            </a:pPr>
            <a:endParaRPr lang="en-US" sz="2000" dirty="0" smtClean="0">
              <a:latin typeface="Times" panose="02020603050405020304" pitchFamily="18" charset="0"/>
              <a:cs typeface="Times" panose="02020603050405020304" pitchFamily="18" charset="0"/>
            </a:endParaRPr>
          </a:p>
        </p:txBody>
      </p:sp>
    </p:spTree>
    <p:extLst>
      <p:ext uri="{BB962C8B-B14F-4D97-AF65-F5344CB8AC3E}">
        <p14:creationId xmlns="" xmlns:p14="http://schemas.microsoft.com/office/powerpoint/2010/main" val="28166518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49867" y="787400"/>
            <a:ext cx="9525000" cy="5078313"/>
          </a:xfrm>
          <a:prstGeom prst="rect">
            <a:avLst/>
          </a:prstGeom>
          <a:noFill/>
        </p:spPr>
        <p:txBody>
          <a:bodyPr wrap="square" rtlCol="0">
            <a:spAutoFit/>
          </a:bodyPr>
          <a:lstStyle/>
          <a:p>
            <a:pPr marL="342900" indent="-342900" algn="just">
              <a:buFont typeface="Arial" panose="020B0604020202020204" pitchFamily="34" charset="0"/>
              <a:buChar char="•"/>
            </a:pPr>
            <a:r>
              <a:rPr lang="en-IN" dirty="0" smtClean="0">
                <a:latin typeface="Times" panose="02020603050405020304" pitchFamily="18" charset="0"/>
                <a:cs typeface="Times" panose="02020603050405020304" pitchFamily="18" charset="0"/>
              </a:rPr>
              <a:t>In this for the same input image, we get the same output for all the three methods but we can process the image in different types such as Horizontal Stretching, Vertical Stretching, zooming and Replication of images.</a:t>
            </a:r>
          </a:p>
          <a:p>
            <a:r>
              <a:rPr lang="en-IN" b="1" dirty="0" smtClean="0">
                <a:latin typeface="Times" panose="02020603050405020304" pitchFamily="18" charset="0"/>
                <a:cs typeface="Times" panose="02020603050405020304" pitchFamily="18" charset="0"/>
              </a:rPr>
              <a:t>NEQR</a:t>
            </a:r>
            <a:r>
              <a:rPr lang="en-IN" b="1" dirty="0">
                <a:latin typeface="Times" panose="02020603050405020304" pitchFamily="18" charset="0"/>
                <a:cs typeface="Times" panose="02020603050405020304" pitchFamily="18" charset="0"/>
              </a:rPr>
              <a:t>:</a:t>
            </a:r>
            <a:endParaRPr lang="en-IN" dirty="0">
              <a:latin typeface="Times" panose="02020603050405020304" pitchFamily="18" charset="0"/>
              <a:cs typeface="Times" panose="02020603050405020304" pitchFamily="18" charset="0"/>
            </a:endParaRPr>
          </a:p>
          <a:p>
            <a:endParaRPr lang="en-US" dirty="0" smtClean="0">
              <a:latin typeface="Times" panose="02020603050405020304" pitchFamily="18" charset="0"/>
              <a:cs typeface="Times" panose="02020603050405020304" pitchFamily="18" charset="0"/>
            </a:endParaRPr>
          </a:p>
          <a:p>
            <a:endParaRPr lang="en-US" dirty="0">
              <a:latin typeface="Times" panose="02020603050405020304" pitchFamily="18" charset="0"/>
              <a:cs typeface="Times" panose="02020603050405020304" pitchFamily="18" charset="0"/>
            </a:endParaRPr>
          </a:p>
          <a:p>
            <a:endParaRPr lang="en-US" dirty="0" smtClean="0">
              <a:latin typeface="Times" panose="02020603050405020304" pitchFamily="18" charset="0"/>
              <a:cs typeface="Times" panose="02020603050405020304" pitchFamily="18" charset="0"/>
            </a:endParaRPr>
          </a:p>
          <a:p>
            <a:endParaRPr lang="en-US" dirty="0">
              <a:latin typeface="Times" panose="02020603050405020304" pitchFamily="18" charset="0"/>
              <a:cs typeface="Times" panose="02020603050405020304" pitchFamily="18" charset="0"/>
            </a:endParaRPr>
          </a:p>
          <a:p>
            <a:endParaRPr lang="en-US" dirty="0" smtClean="0">
              <a:latin typeface="Times" panose="02020603050405020304" pitchFamily="18" charset="0"/>
              <a:cs typeface="Times" panose="02020603050405020304" pitchFamily="18" charset="0"/>
            </a:endParaRPr>
          </a:p>
          <a:p>
            <a:r>
              <a:rPr lang="en-IN" b="1" dirty="0">
                <a:latin typeface="Times" panose="02020603050405020304" pitchFamily="18" charset="0"/>
                <a:cs typeface="Times" panose="02020603050405020304" pitchFamily="18" charset="0"/>
              </a:rPr>
              <a:t>FRQI</a:t>
            </a:r>
            <a:r>
              <a:rPr lang="en-IN" b="1" dirty="0" smtClean="0">
                <a:latin typeface="Times" panose="02020603050405020304" pitchFamily="18" charset="0"/>
                <a:cs typeface="Times" panose="02020603050405020304" pitchFamily="18" charset="0"/>
              </a:rPr>
              <a:t>:</a:t>
            </a:r>
          </a:p>
          <a:p>
            <a:endParaRPr lang="en-US" b="1" dirty="0">
              <a:latin typeface="Times" panose="02020603050405020304" pitchFamily="18" charset="0"/>
              <a:cs typeface="Times" panose="02020603050405020304" pitchFamily="18" charset="0"/>
            </a:endParaRPr>
          </a:p>
          <a:p>
            <a:endParaRPr lang="en-US" b="1" dirty="0" smtClean="0">
              <a:latin typeface="Times" panose="02020603050405020304" pitchFamily="18" charset="0"/>
              <a:cs typeface="Times" panose="02020603050405020304" pitchFamily="18" charset="0"/>
            </a:endParaRPr>
          </a:p>
          <a:p>
            <a:endParaRPr lang="en-US" b="1" dirty="0">
              <a:latin typeface="Times" panose="02020603050405020304" pitchFamily="18" charset="0"/>
              <a:cs typeface="Times" panose="02020603050405020304" pitchFamily="18" charset="0"/>
            </a:endParaRPr>
          </a:p>
          <a:p>
            <a:endParaRPr lang="en-US" b="1" dirty="0" smtClean="0">
              <a:latin typeface="Times" panose="02020603050405020304" pitchFamily="18" charset="0"/>
              <a:cs typeface="Times" panose="02020603050405020304" pitchFamily="18" charset="0"/>
            </a:endParaRPr>
          </a:p>
          <a:p>
            <a:r>
              <a:rPr lang="en-IN" b="1" dirty="0">
                <a:latin typeface="Times" panose="02020603050405020304" pitchFamily="18" charset="0"/>
                <a:cs typeface="Times" panose="02020603050405020304" pitchFamily="18" charset="0"/>
              </a:rPr>
              <a:t>MCQI:</a:t>
            </a:r>
            <a:endParaRPr lang="en-IN" dirty="0">
              <a:latin typeface="Times" panose="02020603050405020304" pitchFamily="18" charset="0"/>
              <a:cs typeface="Times" panose="02020603050405020304" pitchFamily="18" charset="0"/>
            </a:endParaRPr>
          </a:p>
          <a:p>
            <a:endParaRPr lang="en-US" dirty="0" smtClean="0">
              <a:latin typeface="Times" panose="02020603050405020304" pitchFamily="18" charset="0"/>
              <a:cs typeface="Times" panose="02020603050405020304" pitchFamily="18" charset="0"/>
            </a:endParaRPr>
          </a:p>
          <a:p>
            <a:endParaRPr lang="en-IN" dirty="0">
              <a:latin typeface="Times" panose="02020603050405020304" pitchFamily="18" charset="0"/>
              <a:cs typeface="Times" panose="02020603050405020304" pitchFamily="18" charset="0"/>
            </a:endParaRPr>
          </a:p>
          <a:p>
            <a:endParaRPr lang="en-IN" dirty="0">
              <a:latin typeface="Times" panose="02020603050405020304" pitchFamily="18" charset="0"/>
              <a:cs typeface="Times" panose="02020603050405020304" pitchFamily="18" charset="0"/>
            </a:endParaRPr>
          </a:p>
        </p:txBody>
      </p:sp>
      <p:pic>
        <p:nvPicPr>
          <p:cNvPr id="3" name="Picture 2"/>
          <p:cNvPicPr/>
          <p:nvPr/>
        </p:nvPicPr>
        <p:blipFill>
          <a:blip r:embed="rId2"/>
          <a:stretch>
            <a:fillRect/>
          </a:stretch>
        </p:blipFill>
        <p:spPr>
          <a:xfrm>
            <a:off x="3100922" y="2050258"/>
            <a:ext cx="2922905" cy="953122"/>
          </a:xfrm>
          <a:prstGeom prst="rect">
            <a:avLst/>
          </a:prstGeom>
        </p:spPr>
      </p:pic>
      <p:pic>
        <p:nvPicPr>
          <p:cNvPr id="4" name="Picture 3"/>
          <p:cNvPicPr/>
          <p:nvPr/>
        </p:nvPicPr>
        <p:blipFill>
          <a:blip r:embed="rId3"/>
          <a:stretch>
            <a:fillRect/>
          </a:stretch>
        </p:blipFill>
        <p:spPr>
          <a:xfrm>
            <a:off x="2705746" y="3517802"/>
            <a:ext cx="4015740" cy="1044575"/>
          </a:xfrm>
          <a:prstGeom prst="rect">
            <a:avLst/>
          </a:prstGeom>
        </p:spPr>
      </p:pic>
      <p:pic>
        <p:nvPicPr>
          <p:cNvPr id="5" name="Picture 4"/>
          <p:cNvPicPr/>
          <p:nvPr/>
        </p:nvPicPr>
        <p:blipFill>
          <a:blip r:embed="rId4"/>
          <a:stretch>
            <a:fillRect/>
          </a:stretch>
        </p:blipFill>
        <p:spPr>
          <a:xfrm>
            <a:off x="2724997" y="5028674"/>
            <a:ext cx="4631690" cy="873760"/>
          </a:xfrm>
          <a:prstGeom prst="rect">
            <a:avLst/>
          </a:prstGeom>
        </p:spPr>
      </p:pic>
    </p:spTree>
    <p:extLst>
      <p:ext uri="{BB962C8B-B14F-4D97-AF65-F5344CB8AC3E}">
        <p14:creationId xmlns="" xmlns:p14="http://schemas.microsoft.com/office/powerpoint/2010/main" val="22412380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63407" y="617096"/>
            <a:ext cx="2712645" cy="461665"/>
          </a:xfrm>
          <a:prstGeom prst="rect">
            <a:avLst/>
          </a:prstGeom>
          <a:noFill/>
        </p:spPr>
        <p:txBody>
          <a:bodyPr wrap="square" rtlCol="0">
            <a:spAutoFit/>
          </a:bodyPr>
          <a:lstStyle/>
          <a:p>
            <a:pPr algn="ctr"/>
            <a:r>
              <a:rPr lang="en-US" sz="2400" b="1" dirty="0" smtClean="0">
                <a:latin typeface="Times" panose="02020603050405020304" pitchFamily="18" charset="0"/>
                <a:cs typeface="Times" panose="02020603050405020304" pitchFamily="18" charset="0"/>
              </a:rPr>
              <a:t>METHODOLOGY</a:t>
            </a:r>
            <a:endParaRPr lang="en-IN" sz="2400" b="1" dirty="0">
              <a:latin typeface="Times" panose="02020603050405020304" pitchFamily="18" charset="0"/>
              <a:cs typeface="Times" panose="02020603050405020304" pitchFamily="18" charset="0"/>
            </a:endParaRPr>
          </a:p>
        </p:txBody>
      </p:sp>
      <p:pic>
        <p:nvPicPr>
          <p:cNvPr id="4" name="Picture 3" descr="C:\Users\vighn\Downloads\flowchart (2).jpg"/>
          <p:cNvPicPr/>
          <p:nvPr/>
        </p:nvPicPr>
        <p:blipFill>
          <a:blip r:embed="rId2">
            <a:extLst>
              <a:ext uri="{28A0092B-C50C-407E-A947-70E740481C1C}">
                <a14:useLocalDpi xmlns="" xmlns:a14="http://schemas.microsoft.com/office/drawing/2010/main" val="0"/>
              </a:ext>
            </a:extLst>
          </a:blip>
          <a:srcRect/>
          <a:stretch>
            <a:fillRect/>
          </a:stretch>
        </p:blipFill>
        <p:spPr bwMode="auto">
          <a:xfrm>
            <a:off x="908913" y="1625600"/>
            <a:ext cx="9894554" cy="3421668"/>
          </a:xfrm>
          <a:prstGeom prst="rect">
            <a:avLst/>
          </a:prstGeom>
          <a:noFill/>
          <a:ln>
            <a:noFill/>
          </a:ln>
        </p:spPr>
      </p:pic>
      <p:sp>
        <p:nvSpPr>
          <p:cNvPr id="5" name="TextBox 4"/>
          <p:cNvSpPr txBox="1"/>
          <p:nvPr/>
        </p:nvSpPr>
        <p:spPr>
          <a:xfrm>
            <a:off x="1752425" y="5333560"/>
            <a:ext cx="8335250" cy="646331"/>
          </a:xfrm>
          <a:prstGeom prst="rect">
            <a:avLst/>
          </a:prstGeom>
          <a:noFill/>
        </p:spPr>
        <p:txBody>
          <a:bodyPr wrap="square" rtlCol="0">
            <a:spAutoFit/>
          </a:bodyPr>
          <a:lstStyle/>
          <a:p>
            <a:r>
              <a:rPr lang="en-US" dirty="0" smtClean="0">
                <a:latin typeface="Times" panose="02020603050405020304" pitchFamily="18" charset="0"/>
                <a:cs typeface="Times" panose="02020603050405020304" pitchFamily="18" charset="0"/>
              </a:rPr>
              <a:t>Fig:1   Block diagram of </a:t>
            </a:r>
            <a:r>
              <a:rPr lang="en-US" dirty="0">
                <a:latin typeface="Times" panose="02020603050405020304" pitchFamily="18" charset="0"/>
                <a:cs typeface="Times" panose="02020603050405020304" pitchFamily="18" charset="0"/>
              </a:rPr>
              <a:t>NEQR and FRQI for gray images and MCQI for color </a:t>
            </a:r>
            <a:r>
              <a:rPr lang="en-US" dirty="0" smtClean="0">
                <a:latin typeface="Times" panose="02020603050405020304" pitchFamily="18" charset="0"/>
                <a:cs typeface="Times" panose="02020603050405020304" pitchFamily="18" charset="0"/>
              </a:rPr>
              <a:t>images</a:t>
            </a:r>
          </a:p>
          <a:p>
            <a:endParaRPr lang="en-IN" dirty="0">
              <a:latin typeface="Times" panose="02020603050405020304" pitchFamily="18" charset="0"/>
              <a:cs typeface="Times" panose="02020603050405020304" pitchFamily="18" charset="0"/>
            </a:endParaRPr>
          </a:p>
        </p:txBody>
      </p:sp>
    </p:spTree>
    <p:extLst>
      <p:ext uri="{BB962C8B-B14F-4D97-AF65-F5344CB8AC3E}">
        <p14:creationId xmlns="" xmlns:p14="http://schemas.microsoft.com/office/powerpoint/2010/main" val="38751272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65199" y="736600"/>
            <a:ext cx="9990667" cy="5170646"/>
          </a:xfrm>
          <a:prstGeom prst="rect">
            <a:avLst/>
          </a:prstGeom>
          <a:noFill/>
        </p:spPr>
        <p:txBody>
          <a:bodyPr wrap="square" rtlCol="0">
            <a:spAutoFit/>
          </a:bodyPr>
          <a:lstStyle/>
          <a:p>
            <a:pPr algn="just"/>
            <a:r>
              <a:rPr lang="en-US" sz="2400" b="1" dirty="0" smtClean="0">
                <a:latin typeface="Times" panose="02020603050405020304" pitchFamily="18" charset="0"/>
                <a:cs typeface="Times" panose="02020603050405020304" pitchFamily="18" charset="0"/>
              </a:rPr>
              <a:t>NEQR</a:t>
            </a:r>
            <a:r>
              <a:rPr lang="en-US" b="1" dirty="0">
                <a:latin typeface="Times" panose="02020603050405020304" pitchFamily="18" charset="0"/>
                <a:cs typeface="Times" panose="02020603050405020304" pitchFamily="18" charset="0"/>
              </a:rPr>
              <a:t>(Novel Enhanced Quantum </a:t>
            </a:r>
            <a:r>
              <a:rPr lang="en-US" b="1" dirty="0" smtClean="0">
                <a:latin typeface="Times" panose="02020603050405020304" pitchFamily="18" charset="0"/>
                <a:cs typeface="Times" panose="02020603050405020304" pitchFamily="18" charset="0"/>
              </a:rPr>
              <a:t>Representation)</a:t>
            </a:r>
            <a:r>
              <a:rPr lang="en-US" sz="2400" b="1" dirty="0" smtClean="0">
                <a:latin typeface="Times" panose="02020603050405020304" pitchFamily="18" charset="0"/>
                <a:cs typeface="Times" panose="02020603050405020304" pitchFamily="18" charset="0"/>
              </a:rPr>
              <a:t>:</a:t>
            </a:r>
          </a:p>
          <a:p>
            <a:pPr algn="just"/>
            <a:endParaRPr lang="en-US" sz="2400" b="1" dirty="0">
              <a:latin typeface="Times" panose="02020603050405020304" pitchFamily="18" charset="0"/>
              <a:cs typeface="Times" panose="02020603050405020304" pitchFamily="18" charset="0"/>
            </a:endParaRPr>
          </a:p>
          <a:p>
            <a:pPr algn="just"/>
            <a:endParaRPr lang="en-US" sz="2400" b="1" dirty="0" smtClean="0">
              <a:latin typeface="Times" panose="02020603050405020304" pitchFamily="18" charset="0"/>
              <a:cs typeface="Times" panose="02020603050405020304" pitchFamily="18" charset="0"/>
            </a:endParaRPr>
          </a:p>
          <a:p>
            <a:pPr algn="just"/>
            <a:endParaRPr lang="en-US" sz="2400" b="1" dirty="0" smtClean="0">
              <a:latin typeface="Times" panose="02020603050405020304" pitchFamily="18" charset="0"/>
              <a:cs typeface="Times" panose="02020603050405020304" pitchFamily="18" charset="0"/>
            </a:endParaRPr>
          </a:p>
          <a:p>
            <a:pPr algn="just"/>
            <a:r>
              <a:rPr lang="en-US" dirty="0" smtClean="0">
                <a:latin typeface="Times" panose="02020603050405020304" pitchFamily="18" charset="0"/>
                <a:cs typeface="Times" panose="02020603050405020304" pitchFamily="18" charset="0"/>
              </a:rPr>
              <a:t>             </a:t>
            </a:r>
          </a:p>
          <a:p>
            <a:pPr algn="just"/>
            <a:endParaRPr lang="en-US" dirty="0">
              <a:latin typeface="Times" panose="02020603050405020304" pitchFamily="18" charset="0"/>
              <a:cs typeface="Times" panose="02020603050405020304" pitchFamily="18" charset="0"/>
            </a:endParaRPr>
          </a:p>
          <a:p>
            <a:pPr algn="just"/>
            <a:r>
              <a:rPr lang="en-US" dirty="0" smtClean="0">
                <a:latin typeface="Times" panose="02020603050405020304" pitchFamily="18" charset="0"/>
                <a:cs typeface="Times" panose="02020603050405020304" pitchFamily="18" charset="0"/>
              </a:rPr>
              <a:t>                   Input Image              </a:t>
            </a:r>
            <a:r>
              <a:rPr lang="en-US" dirty="0" err="1" smtClean="0">
                <a:latin typeface="Times" panose="02020603050405020304" pitchFamily="18" charset="0"/>
                <a:cs typeface="Times" panose="02020603050405020304" pitchFamily="18" charset="0"/>
              </a:rPr>
              <a:t>Upscaled</a:t>
            </a:r>
            <a:r>
              <a:rPr lang="en-US" dirty="0" smtClean="0">
                <a:latin typeface="Times" panose="02020603050405020304" pitchFamily="18" charset="0"/>
                <a:cs typeface="Times" panose="02020603050405020304" pitchFamily="18" charset="0"/>
              </a:rPr>
              <a:t> image</a:t>
            </a:r>
          </a:p>
          <a:p>
            <a:pPr marL="285750" indent="-285750" algn="just">
              <a:buFont typeface="Arial" panose="020B0604020202020204" pitchFamily="34" charset="0"/>
              <a:buChar char="•"/>
            </a:pPr>
            <a:r>
              <a:rPr lang="en-US" dirty="0" smtClean="0">
                <a:latin typeface="Times" panose="02020603050405020304" pitchFamily="18" charset="0"/>
                <a:cs typeface="Times" panose="02020603050405020304" pitchFamily="18" charset="0"/>
              </a:rPr>
              <a:t> </a:t>
            </a:r>
            <a:r>
              <a:rPr lang="en-US" sz="2000" dirty="0" smtClean="0">
                <a:latin typeface="Times" panose="02020603050405020304" pitchFamily="18" charset="0"/>
                <a:cs typeface="Times" panose="02020603050405020304" pitchFamily="18" charset="0"/>
              </a:rPr>
              <a:t>In the quantum circuit of NEQR, initially</a:t>
            </a:r>
            <a:r>
              <a:rPr lang="en-IN" sz="2000" dirty="0" smtClean="0">
                <a:latin typeface="Times" panose="02020603050405020304" pitchFamily="18" charset="0"/>
                <a:cs typeface="Times" panose="02020603050405020304" pitchFamily="18" charset="0"/>
              </a:rPr>
              <a:t> convert the 2x2 input image into NEQR .</a:t>
            </a:r>
          </a:p>
          <a:p>
            <a:pPr marL="285750" indent="-285750" algn="just">
              <a:buFont typeface="Arial" panose="020B0604020202020204" pitchFamily="34" charset="0"/>
              <a:buChar char="•"/>
            </a:pPr>
            <a:r>
              <a:rPr lang="en-US" sz="2000" dirty="0" smtClean="0">
                <a:latin typeface="Times" panose="02020603050405020304" pitchFamily="18" charset="0"/>
                <a:cs typeface="Times" panose="02020603050405020304" pitchFamily="18" charset="0"/>
              </a:rPr>
              <a:t>we will have 2 position </a:t>
            </a:r>
            <a:r>
              <a:rPr lang="en-US" sz="2000" dirty="0" err="1" smtClean="0">
                <a:latin typeface="Times" panose="02020603050405020304" pitchFamily="18" charset="0"/>
                <a:cs typeface="Times" panose="02020603050405020304" pitchFamily="18" charset="0"/>
              </a:rPr>
              <a:t>Qubits</a:t>
            </a:r>
            <a:r>
              <a:rPr lang="en-US" sz="2000" dirty="0" smtClean="0">
                <a:latin typeface="Times" panose="02020603050405020304" pitchFamily="18" charset="0"/>
                <a:cs typeface="Times" panose="02020603050405020304" pitchFamily="18" charset="0"/>
              </a:rPr>
              <a:t> the (row, col) and 3 gray value qubits (g0, g1, g2) taken based on the highest pixel in the input image.</a:t>
            </a:r>
          </a:p>
          <a:p>
            <a:pPr marL="285750" indent="-285750" algn="just">
              <a:buFont typeface="Arial" panose="020B0604020202020204" pitchFamily="34" charset="0"/>
              <a:buChar char="•"/>
            </a:pPr>
            <a:r>
              <a:rPr lang="en-US" sz="2000" dirty="0" err="1" smtClean="0">
                <a:latin typeface="Times" panose="02020603050405020304" pitchFamily="18" charset="0"/>
                <a:cs typeface="Times" panose="02020603050405020304" pitchFamily="18" charset="0"/>
              </a:rPr>
              <a:t>Hadamard</a:t>
            </a:r>
            <a:r>
              <a:rPr lang="en-US" sz="2000" dirty="0" smtClean="0">
                <a:latin typeface="Times" panose="02020603050405020304" pitchFamily="18" charset="0"/>
                <a:cs typeface="Times" panose="02020603050405020304" pitchFamily="18" charset="0"/>
              </a:rPr>
              <a:t> gate is applied on the position qubits to obtain superposition.</a:t>
            </a:r>
          </a:p>
          <a:p>
            <a:pPr marL="285750" indent="-285750" algn="just">
              <a:buFont typeface="Arial" panose="020B0604020202020204" pitchFamily="34" charset="0"/>
              <a:buChar char="•"/>
            </a:pPr>
            <a:r>
              <a:rPr lang="en-US" sz="2000" dirty="0" smtClean="0">
                <a:latin typeface="Times" panose="02020603050405020304" pitchFamily="18" charset="0"/>
                <a:cs typeface="Times" panose="02020603050405020304" pitchFamily="18" charset="0"/>
              </a:rPr>
              <a:t>Later new position qubits (</a:t>
            </a:r>
            <a:r>
              <a:rPr lang="en-US" sz="2000" dirty="0" err="1" smtClean="0">
                <a:latin typeface="Times" panose="02020603050405020304" pitchFamily="18" charset="0"/>
                <a:cs typeface="Times" panose="02020603050405020304" pitchFamily="18" charset="0"/>
              </a:rPr>
              <a:t>e_row</a:t>
            </a:r>
            <a:r>
              <a:rPr lang="en-US" sz="2000" dirty="0" smtClean="0">
                <a:latin typeface="Times" panose="02020603050405020304" pitchFamily="18" charset="0"/>
                <a:cs typeface="Times" panose="02020603050405020304" pitchFamily="18" charset="0"/>
              </a:rPr>
              <a:t>, </a:t>
            </a:r>
            <a:r>
              <a:rPr lang="en-US" sz="2000" dirty="0" err="1" smtClean="0">
                <a:latin typeface="Times" panose="02020603050405020304" pitchFamily="18" charset="0"/>
                <a:cs typeface="Times" panose="02020603050405020304" pitchFamily="18" charset="0"/>
              </a:rPr>
              <a:t>e_col</a:t>
            </a:r>
            <a:r>
              <a:rPr lang="en-US" sz="2000" dirty="0" smtClean="0">
                <a:latin typeface="Times" panose="02020603050405020304" pitchFamily="18" charset="0"/>
                <a:cs typeface="Times" panose="02020603050405020304" pitchFamily="18" charset="0"/>
              </a:rPr>
              <a:t>)  are added and </a:t>
            </a:r>
            <a:r>
              <a:rPr lang="en-US" sz="2000" dirty="0" err="1" smtClean="0">
                <a:latin typeface="Times" panose="02020603050405020304" pitchFamily="18" charset="0"/>
                <a:cs typeface="Times" panose="02020603050405020304" pitchFamily="18" charset="0"/>
              </a:rPr>
              <a:t>hadamard</a:t>
            </a:r>
            <a:r>
              <a:rPr lang="en-US" sz="2000" dirty="0" smtClean="0">
                <a:latin typeface="Times" panose="02020603050405020304" pitchFamily="18" charset="0"/>
                <a:cs typeface="Times" panose="02020603050405020304" pitchFamily="18" charset="0"/>
              </a:rPr>
              <a:t> gate is applied.</a:t>
            </a:r>
          </a:p>
          <a:p>
            <a:pPr marL="285750" indent="-285750" algn="just">
              <a:buFont typeface="Arial" panose="020B0604020202020204" pitchFamily="34" charset="0"/>
              <a:buChar char="•"/>
            </a:pPr>
            <a:r>
              <a:rPr lang="en-US" sz="2000" dirty="0" smtClean="0">
                <a:latin typeface="Times" panose="02020603050405020304" pitchFamily="18" charset="0"/>
                <a:cs typeface="Times" panose="02020603050405020304" pitchFamily="18" charset="0"/>
              </a:rPr>
              <a:t>X-gates and CNOT gates are applied on gray value qubits.</a:t>
            </a:r>
          </a:p>
          <a:p>
            <a:pPr marL="285750" indent="-285750" algn="just">
              <a:buFont typeface="Arial" panose="020B0604020202020204" pitchFamily="34" charset="0"/>
              <a:buChar char="•"/>
            </a:pPr>
            <a:r>
              <a:rPr lang="en-US" sz="2000" dirty="0" smtClean="0">
                <a:latin typeface="Times" panose="02020603050405020304" pitchFamily="18" charset="0"/>
                <a:cs typeface="Times" panose="02020603050405020304" pitchFamily="18" charset="0"/>
              </a:rPr>
              <a:t>The obtained </a:t>
            </a:r>
            <a:r>
              <a:rPr lang="en-US" sz="2000" dirty="0" err="1" smtClean="0">
                <a:latin typeface="Times" panose="02020603050405020304" pitchFamily="18" charset="0"/>
                <a:cs typeface="Times" panose="02020603050405020304" pitchFamily="18" charset="0"/>
              </a:rPr>
              <a:t>upscaled</a:t>
            </a:r>
            <a:r>
              <a:rPr lang="en-US" sz="2000" dirty="0" smtClean="0">
                <a:latin typeface="Times" panose="02020603050405020304" pitchFamily="18" charset="0"/>
                <a:cs typeface="Times" panose="02020603050405020304" pitchFamily="18" charset="0"/>
              </a:rPr>
              <a:t> image is Zoomed image.</a:t>
            </a:r>
          </a:p>
          <a:p>
            <a:pPr marL="285750" indent="-285750" algn="just">
              <a:buFont typeface="Arial" panose="020B0604020202020204" pitchFamily="34" charset="0"/>
              <a:buChar char="•"/>
            </a:pPr>
            <a:r>
              <a:rPr lang="en-US" sz="2000" dirty="0" smtClean="0">
                <a:latin typeface="Times" panose="02020603050405020304" pitchFamily="18" charset="0"/>
                <a:cs typeface="Times" panose="02020603050405020304" pitchFamily="18" charset="0"/>
              </a:rPr>
              <a:t>By rearranging the new position qubits we get different images with Vertical Stretching, Horizontal Stretching and Image replication.</a:t>
            </a:r>
          </a:p>
        </p:txBody>
      </p:sp>
      <p:pic>
        <p:nvPicPr>
          <p:cNvPr id="3" name="Picture 2"/>
          <p:cNvPicPr/>
          <p:nvPr/>
        </p:nvPicPr>
        <p:blipFill>
          <a:blip r:embed="rId3"/>
          <a:stretch>
            <a:fillRect/>
          </a:stretch>
        </p:blipFill>
        <p:spPr>
          <a:xfrm>
            <a:off x="2042582" y="1458382"/>
            <a:ext cx="1361017" cy="1081617"/>
          </a:xfrm>
          <a:prstGeom prst="rect">
            <a:avLst/>
          </a:prstGeom>
        </p:spPr>
      </p:pic>
      <p:pic>
        <p:nvPicPr>
          <p:cNvPr id="4" name="Picture 3" descr="C:\Users\vighn\Downloads\Screenshot_2026-06-09_165736-removebg-preview.png"/>
          <p:cNvPicPr/>
          <p:nvPr/>
        </p:nvPicPr>
        <p:blipFill>
          <a:blip r:embed="rId4">
            <a:extLst>
              <a:ext uri="{28A0092B-C50C-407E-A947-70E740481C1C}">
                <a14:useLocalDpi xmlns="" xmlns:a14="http://schemas.microsoft.com/office/drawing/2010/main" val="0"/>
              </a:ext>
            </a:extLst>
          </a:blip>
          <a:srcRect/>
          <a:stretch>
            <a:fillRect/>
          </a:stretch>
        </p:blipFill>
        <p:spPr bwMode="auto">
          <a:xfrm>
            <a:off x="3403598" y="1244600"/>
            <a:ext cx="1905001" cy="1615658"/>
          </a:xfrm>
          <a:prstGeom prst="rect">
            <a:avLst/>
          </a:prstGeom>
          <a:noFill/>
          <a:ln>
            <a:noFill/>
          </a:ln>
        </p:spPr>
      </p:pic>
    </p:spTree>
    <p:extLst>
      <p:ext uri="{BB962C8B-B14F-4D97-AF65-F5344CB8AC3E}">
        <p14:creationId xmlns="" xmlns:p14="http://schemas.microsoft.com/office/powerpoint/2010/main" val="33326372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27667" y="1244600"/>
            <a:ext cx="9787466" cy="4216539"/>
          </a:xfrm>
          <a:prstGeom prst="rect">
            <a:avLst/>
          </a:prstGeom>
          <a:noFill/>
        </p:spPr>
        <p:txBody>
          <a:bodyPr wrap="square" rtlCol="0">
            <a:spAutoFit/>
          </a:bodyPr>
          <a:lstStyle/>
          <a:p>
            <a:pPr algn="just"/>
            <a:r>
              <a:rPr lang="en-US" sz="2400" b="1" dirty="0" smtClean="0">
                <a:latin typeface="Times" panose="02020603050405020304" pitchFamily="18" charset="0"/>
                <a:cs typeface="Times" panose="02020603050405020304" pitchFamily="18" charset="0"/>
              </a:rPr>
              <a:t>FRQI</a:t>
            </a:r>
            <a:r>
              <a:rPr lang="en-US" sz="2400" b="1" dirty="0">
                <a:latin typeface="Times" panose="02020603050405020304" pitchFamily="18" charset="0"/>
                <a:cs typeface="Times" panose="02020603050405020304" pitchFamily="18" charset="0"/>
              </a:rPr>
              <a:t>(Flexible Representation of Quantum Images) </a:t>
            </a:r>
            <a:r>
              <a:rPr lang="en-US" sz="2400" b="1" dirty="0" smtClean="0">
                <a:latin typeface="Times" panose="02020603050405020304" pitchFamily="18" charset="0"/>
                <a:cs typeface="Times" panose="02020603050405020304" pitchFamily="18" charset="0"/>
              </a:rPr>
              <a:t>:</a:t>
            </a:r>
          </a:p>
          <a:p>
            <a:pPr algn="just"/>
            <a:endParaRPr lang="en-US" sz="2400" b="1" dirty="0" smtClean="0">
              <a:latin typeface="Times" panose="02020603050405020304" pitchFamily="18" charset="0"/>
              <a:cs typeface="Times" panose="02020603050405020304" pitchFamily="18" charset="0"/>
            </a:endParaRPr>
          </a:p>
          <a:p>
            <a:pPr marL="342900" indent="-342900">
              <a:buFont typeface="Arial" panose="020B0604020202020204" pitchFamily="34" charset="0"/>
              <a:buChar char="•"/>
            </a:pPr>
            <a:r>
              <a:rPr lang="en-US" sz="2000" dirty="0" smtClean="0">
                <a:latin typeface="Times" panose="02020603050405020304" pitchFamily="18" charset="0"/>
                <a:cs typeface="Times" panose="02020603050405020304" pitchFamily="18" charset="0"/>
              </a:rPr>
              <a:t>In the quantum circuit of FRQI, convert the input image into FRQI.</a:t>
            </a:r>
          </a:p>
          <a:p>
            <a:pPr marL="342900" indent="-342900">
              <a:buFont typeface="Arial" panose="020B0604020202020204" pitchFamily="34" charset="0"/>
              <a:buChar char="•"/>
            </a:pPr>
            <a:r>
              <a:rPr lang="en-US" sz="2000" dirty="0" err="1">
                <a:latin typeface="Times" panose="02020603050405020304" pitchFamily="18" charset="0"/>
                <a:cs typeface="Times" panose="02020603050405020304" pitchFamily="18" charset="0"/>
              </a:rPr>
              <a:t>Hadamard</a:t>
            </a:r>
            <a:r>
              <a:rPr lang="en-US" sz="2000" dirty="0">
                <a:latin typeface="Times" panose="02020603050405020304" pitchFamily="18" charset="0"/>
                <a:cs typeface="Times" panose="02020603050405020304" pitchFamily="18" charset="0"/>
              </a:rPr>
              <a:t> gate is applied on the position qubits to </a:t>
            </a:r>
            <a:r>
              <a:rPr lang="en-US" sz="2000" dirty="0" smtClean="0">
                <a:latin typeface="Times" panose="02020603050405020304" pitchFamily="18" charset="0"/>
                <a:cs typeface="Times" panose="02020603050405020304" pitchFamily="18" charset="0"/>
              </a:rPr>
              <a:t>obtain superposition.</a:t>
            </a:r>
          </a:p>
          <a:p>
            <a:pPr marL="342900" indent="-342900">
              <a:buFont typeface="Arial" panose="020B0604020202020204" pitchFamily="34" charset="0"/>
              <a:buChar char="•"/>
            </a:pPr>
            <a:r>
              <a:rPr lang="en-US" sz="2000" dirty="0" smtClean="0">
                <a:latin typeface="Times" panose="02020603050405020304" pitchFamily="18" charset="0"/>
                <a:cs typeface="Times" panose="02020603050405020304" pitchFamily="18" charset="0"/>
              </a:rPr>
              <a:t>The </a:t>
            </a:r>
            <a:r>
              <a:rPr lang="en-US" sz="2000" dirty="0">
                <a:latin typeface="Times" panose="02020603050405020304" pitchFamily="18" charset="0"/>
                <a:cs typeface="Times" panose="02020603050405020304" pitchFamily="18" charset="0"/>
              </a:rPr>
              <a:t>process is same as NEQR for obtaining the output </a:t>
            </a:r>
            <a:r>
              <a:rPr lang="en-US" sz="2000" dirty="0" smtClean="0">
                <a:latin typeface="Times" panose="02020603050405020304" pitchFamily="18" charset="0"/>
                <a:cs typeface="Times" panose="02020603050405020304" pitchFamily="18" charset="0"/>
              </a:rPr>
              <a:t>images</a:t>
            </a:r>
            <a:r>
              <a:rPr lang="en-US" sz="2000" dirty="0">
                <a:latin typeface="Times" panose="02020603050405020304" pitchFamily="18" charset="0"/>
                <a:cs typeface="Times" panose="02020603050405020304" pitchFamily="18" charset="0"/>
              </a:rPr>
              <a:t> </a:t>
            </a:r>
            <a:r>
              <a:rPr lang="en-US" sz="2000" dirty="0" smtClean="0">
                <a:latin typeface="Times" panose="02020603050405020304" pitchFamily="18" charset="0"/>
                <a:cs typeface="Times" panose="02020603050405020304" pitchFamily="18" charset="0"/>
              </a:rPr>
              <a:t>,except</a:t>
            </a:r>
          </a:p>
          <a:p>
            <a:pPr marL="514350" indent="-514350">
              <a:buFont typeface="+mj-lt"/>
              <a:buAutoNum type="romanLcPeriod"/>
            </a:pPr>
            <a:r>
              <a:rPr lang="en-US" sz="2000" dirty="0" smtClean="0">
                <a:latin typeface="Times" panose="02020603050405020304" pitchFamily="18" charset="0"/>
                <a:cs typeface="Times" panose="02020603050405020304" pitchFamily="18" charset="0"/>
              </a:rPr>
              <a:t>       The FRQI will be encoded using angle(theta values).</a:t>
            </a:r>
          </a:p>
          <a:p>
            <a:pPr marL="514350" indent="-514350">
              <a:buFont typeface="+mj-lt"/>
              <a:buAutoNum type="romanLcPeriod"/>
            </a:pPr>
            <a:r>
              <a:rPr lang="en-US" sz="2000" dirty="0" smtClean="0">
                <a:latin typeface="Times" panose="02020603050405020304" pitchFamily="18" charset="0"/>
                <a:cs typeface="Times" panose="02020603050405020304" pitchFamily="18" charset="0"/>
              </a:rPr>
              <a:t>       1 gray value qubits (g) taken instead of multiple gray value qubits.</a:t>
            </a:r>
          </a:p>
          <a:p>
            <a:pPr marL="514350" indent="-514350">
              <a:buFont typeface="+mj-lt"/>
              <a:buAutoNum type="romanLcPeriod"/>
            </a:pPr>
            <a:r>
              <a:rPr lang="en-US" sz="2000" dirty="0" smtClean="0">
                <a:latin typeface="Times" panose="02020603050405020304" pitchFamily="18" charset="0"/>
                <a:cs typeface="Times" panose="02020603050405020304" pitchFamily="18" charset="0"/>
              </a:rPr>
              <a:t>       Rotation gates </a:t>
            </a:r>
            <a:r>
              <a:rPr lang="en-US" sz="2000" dirty="0">
                <a:latin typeface="Times" panose="02020603050405020304" pitchFamily="18" charset="0"/>
                <a:cs typeface="Times" panose="02020603050405020304" pitchFamily="18" charset="0"/>
              </a:rPr>
              <a:t>are applied on the gray value </a:t>
            </a:r>
            <a:r>
              <a:rPr lang="en-US" sz="2000" dirty="0" smtClean="0">
                <a:latin typeface="Times" panose="02020603050405020304" pitchFamily="18" charset="0"/>
                <a:cs typeface="Times" panose="02020603050405020304" pitchFamily="18" charset="0"/>
              </a:rPr>
              <a:t>qubits and X-gates are applied on the          position qubits and the image is </a:t>
            </a:r>
            <a:r>
              <a:rPr lang="en-US" sz="2000" dirty="0" err="1" smtClean="0">
                <a:latin typeface="Times" panose="02020603050405020304" pitchFamily="18" charset="0"/>
                <a:cs typeface="Times" panose="02020603050405020304" pitchFamily="18" charset="0"/>
              </a:rPr>
              <a:t>upscaled</a:t>
            </a:r>
            <a:r>
              <a:rPr lang="en-US" sz="2000" dirty="0" smtClean="0">
                <a:latin typeface="Times" panose="02020603050405020304" pitchFamily="18" charset="0"/>
                <a:cs typeface="Times" panose="02020603050405020304" pitchFamily="18" charset="0"/>
              </a:rPr>
              <a:t>.</a:t>
            </a:r>
            <a:endParaRPr lang="en-US" sz="2000" dirty="0">
              <a:latin typeface="Times" panose="02020603050405020304" pitchFamily="18" charset="0"/>
              <a:cs typeface="Times" panose="02020603050405020304" pitchFamily="18" charset="0"/>
            </a:endParaRPr>
          </a:p>
          <a:p>
            <a:pPr marL="285750" indent="-285750">
              <a:buFont typeface="Arial" panose="020B0604020202020204" pitchFamily="34" charset="0"/>
              <a:buChar char="•"/>
            </a:pPr>
            <a:r>
              <a:rPr lang="en-US" sz="2000" dirty="0">
                <a:latin typeface="Times" panose="02020603050405020304" pitchFamily="18" charset="0"/>
                <a:cs typeface="Times" panose="02020603050405020304" pitchFamily="18" charset="0"/>
              </a:rPr>
              <a:t>The obtained </a:t>
            </a:r>
            <a:r>
              <a:rPr lang="en-US" sz="2000" dirty="0" err="1">
                <a:latin typeface="Times" panose="02020603050405020304" pitchFamily="18" charset="0"/>
                <a:cs typeface="Times" panose="02020603050405020304" pitchFamily="18" charset="0"/>
              </a:rPr>
              <a:t>upscaled</a:t>
            </a:r>
            <a:r>
              <a:rPr lang="en-US" sz="2000" dirty="0">
                <a:latin typeface="Times" panose="02020603050405020304" pitchFamily="18" charset="0"/>
                <a:cs typeface="Times" panose="02020603050405020304" pitchFamily="18" charset="0"/>
              </a:rPr>
              <a:t> image is Zoomed image.</a:t>
            </a:r>
          </a:p>
          <a:p>
            <a:pPr marL="285750" indent="-285750">
              <a:buFont typeface="Arial" panose="020B0604020202020204" pitchFamily="34" charset="0"/>
              <a:buChar char="•"/>
            </a:pPr>
            <a:r>
              <a:rPr lang="en-US" sz="2000" dirty="0">
                <a:latin typeface="Times" panose="02020603050405020304" pitchFamily="18" charset="0"/>
                <a:cs typeface="Times" panose="02020603050405020304" pitchFamily="18" charset="0"/>
              </a:rPr>
              <a:t>By rearranging the new position </a:t>
            </a:r>
            <a:r>
              <a:rPr lang="en-US" sz="2000" dirty="0" smtClean="0">
                <a:latin typeface="Times" panose="02020603050405020304" pitchFamily="18" charset="0"/>
                <a:cs typeface="Times" panose="02020603050405020304" pitchFamily="18" charset="0"/>
              </a:rPr>
              <a:t>qubits, </a:t>
            </a:r>
            <a:r>
              <a:rPr lang="en-US" sz="2000" dirty="0">
                <a:latin typeface="Times" panose="02020603050405020304" pitchFamily="18" charset="0"/>
                <a:cs typeface="Times" panose="02020603050405020304" pitchFamily="18" charset="0"/>
              </a:rPr>
              <a:t>we get different images with Vertical Stretching, Horizontal Stretching and Image replication</a:t>
            </a:r>
            <a:r>
              <a:rPr lang="en-US" sz="2000" dirty="0" smtClean="0">
                <a:latin typeface="Times" panose="02020603050405020304" pitchFamily="18" charset="0"/>
                <a:cs typeface="Times" panose="02020603050405020304" pitchFamily="18" charset="0"/>
              </a:rPr>
              <a:t>.</a:t>
            </a:r>
            <a:endParaRPr lang="en-US" sz="2000" dirty="0">
              <a:latin typeface="Times" panose="02020603050405020304" pitchFamily="18" charset="0"/>
              <a:cs typeface="Times" panose="02020603050405020304" pitchFamily="18" charset="0"/>
            </a:endParaRPr>
          </a:p>
          <a:p>
            <a:pPr marL="342900" indent="-342900" algn="just">
              <a:buFont typeface="Arial" panose="020B0604020202020204" pitchFamily="34" charset="0"/>
              <a:buChar char="•"/>
            </a:pPr>
            <a:endParaRPr lang="en-US" sz="2000" dirty="0" smtClean="0">
              <a:latin typeface="Times" panose="02020603050405020304" pitchFamily="18" charset="0"/>
              <a:cs typeface="Times" panose="02020603050405020304" pitchFamily="18" charset="0"/>
            </a:endParaRPr>
          </a:p>
        </p:txBody>
      </p:sp>
    </p:spTree>
    <p:extLst>
      <p:ext uri="{BB962C8B-B14F-4D97-AF65-F5344CB8AC3E}">
        <p14:creationId xmlns="" xmlns:p14="http://schemas.microsoft.com/office/powerpoint/2010/main" val="42434213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44600" y="1083733"/>
            <a:ext cx="9914467" cy="3600986"/>
          </a:xfrm>
          <a:prstGeom prst="rect">
            <a:avLst/>
          </a:prstGeom>
          <a:noFill/>
        </p:spPr>
        <p:txBody>
          <a:bodyPr wrap="square" rtlCol="0">
            <a:spAutoFit/>
          </a:bodyPr>
          <a:lstStyle/>
          <a:p>
            <a:r>
              <a:rPr lang="en-US" sz="2400" b="1" dirty="0" smtClean="0">
                <a:latin typeface="Times" panose="02020603050405020304" pitchFamily="18" charset="0"/>
                <a:cs typeface="Times" panose="02020603050405020304" pitchFamily="18" charset="0"/>
              </a:rPr>
              <a:t>MCQI</a:t>
            </a:r>
            <a:r>
              <a:rPr lang="en-US" sz="2400" b="1" dirty="0">
                <a:latin typeface="Times" panose="02020603050405020304" pitchFamily="18" charset="0"/>
                <a:cs typeface="Times" panose="02020603050405020304" pitchFamily="18" charset="0"/>
              </a:rPr>
              <a:t>(Multi-Channel Quantum Image</a:t>
            </a:r>
            <a:r>
              <a:rPr lang="en-US" sz="2400" b="1" dirty="0" smtClean="0">
                <a:latin typeface="Times" panose="02020603050405020304" pitchFamily="18" charset="0"/>
                <a:cs typeface="Times" panose="02020603050405020304" pitchFamily="18" charset="0"/>
              </a:rPr>
              <a:t>):</a:t>
            </a:r>
          </a:p>
          <a:p>
            <a:endParaRPr lang="en-US" sz="2400" b="1" dirty="0">
              <a:latin typeface="Times" panose="02020603050405020304" pitchFamily="18" charset="0"/>
              <a:cs typeface="Times" panose="02020603050405020304" pitchFamily="18" charset="0"/>
            </a:endParaRPr>
          </a:p>
          <a:p>
            <a:pPr marL="342900" indent="-342900">
              <a:buFont typeface="Arial" panose="020B0604020202020204" pitchFamily="34" charset="0"/>
              <a:buChar char="•"/>
            </a:pPr>
            <a:r>
              <a:rPr lang="en-US" sz="2000" dirty="0" smtClean="0">
                <a:latin typeface="Times" panose="02020603050405020304" pitchFamily="18" charset="0"/>
                <a:cs typeface="Times" panose="02020603050405020304" pitchFamily="18" charset="0"/>
              </a:rPr>
              <a:t>This is the extension to the FRQI.</a:t>
            </a:r>
          </a:p>
          <a:p>
            <a:pPr marL="342900" indent="-342900">
              <a:buFont typeface="Arial" panose="020B0604020202020204" pitchFamily="34" charset="0"/>
              <a:buChar char="•"/>
            </a:pPr>
            <a:r>
              <a:rPr lang="en-US" sz="2000" dirty="0" err="1" smtClean="0">
                <a:latin typeface="Times" panose="02020603050405020304" pitchFamily="18" charset="0"/>
                <a:cs typeface="Times" panose="02020603050405020304" pitchFamily="18" charset="0"/>
              </a:rPr>
              <a:t>Hadamard</a:t>
            </a:r>
            <a:r>
              <a:rPr lang="en-US" sz="2000" dirty="0" smtClean="0">
                <a:latin typeface="Times" panose="02020603050405020304" pitchFamily="18" charset="0"/>
                <a:cs typeface="Times" panose="02020603050405020304" pitchFamily="18" charset="0"/>
              </a:rPr>
              <a:t> gate is applied on the position qubits to </a:t>
            </a:r>
            <a:r>
              <a:rPr lang="en-US" sz="2000" dirty="0">
                <a:latin typeface="Times" panose="02020603050405020304" pitchFamily="18" charset="0"/>
                <a:cs typeface="Times" panose="02020603050405020304" pitchFamily="18" charset="0"/>
              </a:rPr>
              <a:t>o</a:t>
            </a:r>
            <a:r>
              <a:rPr lang="en-US" sz="2000" dirty="0" smtClean="0">
                <a:latin typeface="Times" panose="02020603050405020304" pitchFamily="18" charset="0"/>
                <a:cs typeface="Times" panose="02020603050405020304" pitchFamily="18" charset="0"/>
              </a:rPr>
              <a:t>btain superposition.</a:t>
            </a:r>
          </a:p>
          <a:p>
            <a:pPr marL="342900" indent="-342900">
              <a:buFont typeface="Wingdings" panose="05000000000000000000" pitchFamily="2" charset="2"/>
              <a:buChar char="Ø"/>
            </a:pPr>
            <a:r>
              <a:rPr lang="en-US" sz="2000" dirty="0" smtClean="0">
                <a:latin typeface="Times" panose="02020603050405020304" pitchFamily="18" charset="0"/>
                <a:cs typeface="Times" panose="02020603050405020304" pitchFamily="18" charset="0"/>
              </a:rPr>
              <a:t> This is also same as the FRQI but, here instead of single qubit three color channels are used.</a:t>
            </a:r>
          </a:p>
          <a:p>
            <a:pPr marL="342900" indent="-342900">
              <a:buFont typeface="Wingdings" panose="05000000000000000000" pitchFamily="2" charset="2"/>
              <a:buChar char="Ø"/>
            </a:pPr>
            <a:r>
              <a:rPr lang="en-US" sz="2000" dirty="0" smtClean="0">
                <a:latin typeface="Times" panose="02020603050405020304" pitchFamily="18" charset="0"/>
                <a:cs typeface="Times" panose="02020603050405020304" pitchFamily="18" charset="0"/>
              </a:rPr>
              <a:t>They are R, G, B channels and rotation gates are applied on the color channel qubits.</a:t>
            </a:r>
          </a:p>
          <a:p>
            <a:pPr marL="285750" indent="-285750" algn="just">
              <a:buFont typeface="Arial" panose="020B0604020202020204" pitchFamily="34" charset="0"/>
              <a:buChar char="•"/>
            </a:pPr>
            <a:r>
              <a:rPr lang="en-US" sz="2000" dirty="0" smtClean="0">
                <a:latin typeface="Times" panose="02020603050405020304" pitchFamily="18" charset="0"/>
                <a:cs typeface="Times" panose="02020603050405020304" pitchFamily="18" charset="0"/>
              </a:rPr>
              <a:t>X-gates </a:t>
            </a:r>
            <a:r>
              <a:rPr lang="en-US" sz="2000" dirty="0">
                <a:latin typeface="Times" panose="02020603050405020304" pitchFamily="18" charset="0"/>
                <a:cs typeface="Times" panose="02020603050405020304" pitchFamily="18" charset="0"/>
              </a:rPr>
              <a:t>are applied on the position </a:t>
            </a:r>
            <a:r>
              <a:rPr lang="en-US" sz="2000" dirty="0" smtClean="0">
                <a:latin typeface="Times" panose="02020603050405020304" pitchFamily="18" charset="0"/>
                <a:cs typeface="Times" panose="02020603050405020304" pitchFamily="18" charset="0"/>
              </a:rPr>
              <a:t>qubits and the image is </a:t>
            </a:r>
            <a:r>
              <a:rPr lang="en-US" sz="2000" dirty="0" err="1" smtClean="0">
                <a:latin typeface="Times" panose="02020603050405020304" pitchFamily="18" charset="0"/>
                <a:cs typeface="Times" panose="02020603050405020304" pitchFamily="18" charset="0"/>
              </a:rPr>
              <a:t>Upscaled</a:t>
            </a:r>
            <a:r>
              <a:rPr lang="en-US" sz="2000" dirty="0" smtClean="0">
                <a:latin typeface="Times" panose="02020603050405020304" pitchFamily="18" charset="0"/>
                <a:cs typeface="Times" panose="02020603050405020304" pitchFamily="18" charset="0"/>
              </a:rPr>
              <a:t>.</a:t>
            </a:r>
            <a:endParaRPr lang="en-US" sz="2000" dirty="0">
              <a:latin typeface="Times" panose="02020603050405020304" pitchFamily="18" charset="0"/>
              <a:cs typeface="Times" panose="02020603050405020304" pitchFamily="18" charset="0"/>
            </a:endParaRPr>
          </a:p>
          <a:p>
            <a:pPr marL="285750" indent="-285750" algn="just">
              <a:buFont typeface="Arial" panose="020B0604020202020204" pitchFamily="34" charset="0"/>
              <a:buChar char="•"/>
            </a:pPr>
            <a:r>
              <a:rPr lang="en-US" sz="2000" dirty="0">
                <a:latin typeface="Times" panose="02020603050405020304" pitchFamily="18" charset="0"/>
                <a:cs typeface="Times" panose="02020603050405020304" pitchFamily="18" charset="0"/>
              </a:rPr>
              <a:t>The obtained </a:t>
            </a:r>
            <a:r>
              <a:rPr lang="en-US" sz="2000" dirty="0" err="1">
                <a:latin typeface="Times" panose="02020603050405020304" pitchFamily="18" charset="0"/>
                <a:cs typeface="Times" panose="02020603050405020304" pitchFamily="18" charset="0"/>
              </a:rPr>
              <a:t>upscaled</a:t>
            </a:r>
            <a:r>
              <a:rPr lang="en-US" sz="2000" dirty="0">
                <a:latin typeface="Times" panose="02020603050405020304" pitchFamily="18" charset="0"/>
                <a:cs typeface="Times" panose="02020603050405020304" pitchFamily="18" charset="0"/>
              </a:rPr>
              <a:t> image is Zoomed image.</a:t>
            </a:r>
          </a:p>
          <a:p>
            <a:pPr marL="285750" indent="-285750" algn="just">
              <a:buFont typeface="Arial" panose="020B0604020202020204" pitchFamily="34" charset="0"/>
              <a:buChar char="•"/>
            </a:pPr>
            <a:r>
              <a:rPr lang="en-US" sz="2000" dirty="0">
                <a:latin typeface="Times" panose="02020603050405020304" pitchFamily="18" charset="0"/>
                <a:cs typeface="Times" panose="02020603050405020304" pitchFamily="18" charset="0"/>
              </a:rPr>
              <a:t>By rearranging the new position qubits we get different images with Vertical Stretching, Horizontal Stretching and Image replication</a:t>
            </a:r>
            <a:r>
              <a:rPr lang="en-US" sz="2000" dirty="0" smtClean="0">
                <a:latin typeface="Times" panose="02020603050405020304" pitchFamily="18" charset="0"/>
                <a:cs typeface="Times" panose="02020603050405020304" pitchFamily="18" charset="0"/>
              </a:rPr>
              <a:t>.</a:t>
            </a:r>
            <a:endParaRPr lang="en-US" sz="2000" dirty="0">
              <a:latin typeface="Times" panose="02020603050405020304" pitchFamily="18" charset="0"/>
              <a:cs typeface="Times" panose="02020603050405020304" pitchFamily="18" charset="0"/>
            </a:endParaRPr>
          </a:p>
        </p:txBody>
      </p:sp>
    </p:spTree>
    <p:extLst>
      <p:ext uri="{BB962C8B-B14F-4D97-AF65-F5344CB8AC3E}">
        <p14:creationId xmlns="" xmlns:p14="http://schemas.microsoft.com/office/powerpoint/2010/main" val="18868496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741333" y="380999"/>
            <a:ext cx="1794934" cy="738664"/>
          </a:xfrm>
          <a:prstGeom prst="rect">
            <a:avLst/>
          </a:prstGeom>
          <a:noFill/>
        </p:spPr>
        <p:txBody>
          <a:bodyPr wrap="square" rtlCol="0">
            <a:spAutoFit/>
          </a:bodyPr>
          <a:lstStyle/>
          <a:p>
            <a:r>
              <a:rPr lang="en-US" sz="2400" b="1" dirty="0" smtClean="0">
                <a:latin typeface="Times" panose="02020603050405020304" pitchFamily="18" charset="0"/>
                <a:cs typeface="Times" panose="02020603050405020304" pitchFamily="18" charset="0"/>
              </a:rPr>
              <a:t> RESULTS</a:t>
            </a:r>
          </a:p>
          <a:p>
            <a:endParaRPr lang="en-IN" dirty="0">
              <a:latin typeface="Times" panose="02020603050405020304" pitchFamily="18" charset="0"/>
              <a:cs typeface="Times" panose="02020603050405020304" pitchFamily="18" charset="0"/>
            </a:endParaRPr>
          </a:p>
        </p:txBody>
      </p:sp>
      <p:sp>
        <p:nvSpPr>
          <p:cNvPr id="3" name="TextBox 2"/>
          <p:cNvSpPr txBox="1"/>
          <p:nvPr/>
        </p:nvSpPr>
        <p:spPr>
          <a:xfrm>
            <a:off x="1281007" y="943187"/>
            <a:ext cx="9406466" cy="5632311"/>
          </a:xfrm>
          <a:prstGeom prst="rect">
            <a:avLst/>
          </a:prstGeom>
          <a:noFill/>
        </p:spPr>
        <p:txBody>
          <a:bodyPr wrap="square" rtlCol="0">
            <a:spAutoFit/>
          </a:bodyPr>
          <a:lstStyle/>
          <a:p>
            <a:r>
              <a:rPr lang="en-US" sz="2000" b="1" dirty="0" smtClean="0">
                <a:latin typeface="Times" panose="02020603050405020304" pitchFamily="18" charset="0"/>
                <a:cs typeface="Times" panose="02020603050405020304" pitchFamily="18" charset="0"/>
              </a:rPr>
              <a:t>NEQR :</a:t>
            </a:r>
            <a:endParaRPr lang="en-IN" sz="2000" b="1" dirty="0" smtClean="0">
              <a:latin typeface="Times" panose="02020603050405020304" pitchFamily="18" charset="0"/>
              <a:cs typeface="Times" panose="02020603050405020304" pitchFamily="18" charset="0"/>
            </a:endParaRPr>
          </a:p>
          <a:p>
            <a:pPr marL="342900" indent="-342900">
              <a:buFont typeface="Arial" panose="020B0604020202020204" pitchFamily="34" charset="0"/>
              <a:buChar char="•"/>
            </a:pPr>
            <a:endParaRPr lang="en-IN" sz="2000" dirty="0">
              <a:latin typeface="Times" panose="02020603050405020304" pitchFamily="18" charset="0"/>
              <a:cs typeface="Times" panose="02020603050405020304" pitchFamily="18" charset="0"/>
            </a:endParaRPr>
          </a:p>
          <a:p>
            <a:pPr marL="342900" indent="-342900">
              <a:buFont typeface="Arial" panose="020B0604020202020204" pitchFamily="34" charset="0"/>
              <a:buChar char="•"/>
            </a:pPr>
            <a:r>
              <a:rPr lang="en-IN" sz="2000" dirty="0" smtClean="0">
                <a:latin typeface="Times" panose="02020603050405020304" pitchFamily="18" charset="0"/>
                <a:cs typeface="Times" panose="02020603050405020304" pitchFamily="18" charset="0"/>
              </a:rPr>
              <a:t>The </a:t>
            </a:r>
            <a:r>
              <a:rPr lang="en-IN" sz="2000" dirty="0">
                <a:latin typeface="Times" panose="02020603050405020304" pitchFamily="18" charset="0"/>
                <a:cs typeface="Times" panose="02020603050405020304" pitchFamily="18" charset="0"/>
              </a:rPr>
              <a:t>Nearest </a:t>
            </a:r>
            <a:r>
              <a:rPr lang="en-IN" sz="2000" dirty="0" err="1">
                <a:latin typeface="Times" panose="02020603050405020304" pitchFamily="18" charset="0"/>
                <a:cs typeface="Times" panose="02020603050405020304" pitchFamily="18" charset="0"/>
              </a:rPr>
              <a:t>Neighbor</a:t>
            </a:r>
            <a:r>
              <a:rPr lang="en-IN" sz="2000" dirty="0">
                <a:latin typeface="Times" panose="02020603050405020304" pitchFamily="18" charset="0"/>
                <a:cs typeface="Times" panose="02020603050405020304" pitchFamily="18" charset="0"/>
              </a:rPr>
              <a:t> interpolation method was implemented using FRQI and NEQR for grayscale images and MCQI for </a:t>
            </a:r>
            <a:r>
              <a:rPr lang="en-IN" sz="2000" dirty="0" err="1">
                <a:latin typeface="Times" panose="02020603050405020304" pitchFamily="18" charset="0"/>
                <a:cs typeface="Times" panose="02020603050405020304" pitchFamily="18" charset="0"/>
              </a:rPr>
              <a:t>color</a:t>
            </a:r>
            <a:r>
              <a:rPr lang="en-IN" sz="2000" dirty="0">
                <a:latin typeface="Times" panose="02020603050405020304" pitchFamily="18" charset="0"/>
                <a:cs typeface="Times" panose="02020603050405020304" pitchFamily="18" charset="0"/>
              </a:rPr>
              <a:t> </a:t>
            </a:r>
            <a:r>
              <a:rPr lang="en-IN" sz="2000" dirty="0" smtClean="0">
                <a:latin typeface="Times" panose="02020603050405020304" pitchFamily="18" charset="0"/>
                <a:cs typeface="Times" panose="02020603050405020304" pitchFamily="18" charset="0"/>
              </a:rPr>
              <a:t>images</a:t>
            </a:r>
          </a:p>
          <a:p>
            <a:pPr marL="342900" indent="-342900">
              <a:buFont typeface="Arial" panose="020B0604020202020204" pitchFamily="34" charset="0"/>
              <a:buChar char="•"/>
            </a:pPr>
            <a:endParaRPr lang="en-US" sz="2000" dirty="0">
              <a:latin typeface="Times" panose="02020603050405020304" pitchFamily="18" charset="0"/>
              <a:cs typeface="Times" panose="02020603050405020304" pitchFamily="18" charset="0"/>
            </a:endParaRPr>
          </a:p>
          <a:p>
            <a:pPr marL="342900" indent="-342900">
              <a:buFont typeface="Arial" panose="020B0604020202020204" pitchFamily="34" charset="0"/>
              <a:buChar char="•"/>
            </a:pPr>
            <a:endParaRPr lang="en-US" sz="2000" dirty="0" smtClean="0">
              <a:latin typeface="Times" panose="02020603050405020304" pitchFamily="18" charset="0"/>
              <a:cs typeface="Times" panose="02020603050405020304" pitchFamily="18" charset="0"/>
            </a:endParaRPr>
          </a:p>
          <a:p>
            <a:pPr marL="342900" indent="-342900">
              <a:buFont typeface="Arial" panose="020B0604020202020204" pitchFamily="34" charset="0"/>
              <a:buChar char="•"/>
            </a:pPr>
            <a:endParaRPr lang="en-US" sz="2000" dirty="0">
              <a:latin typeface="Times" panose="02020603050405020304" pitchFamily="18" charset="0"/>
              <a:cs typeface="Times" panose="02020603050405020304" pitchFamily="18" charset="0"/>
            </a:endParaRPr>
          </a:p>
          <a:p>
            <a:pPr marL="342900" indent="-342900">
              <a:buFont typeface="Arial" panose="020B0604020202020204" pitchFamily="34" charset="0"/>
              <a:buChar char="•"/>
            </a:pPr>
            <a:endParaRPr lang="en-US" sz="2000" dirty="0" smtClean="0">
              <a:latin typeface="Times" panose="02020603050405020304" pitchFamily="18" charset="0"/>
              <a:cs typeface="Times" panose="02020603050405020304" pitchFamily="18" charset="0"/>
            </a:endParaRPr>
          </a:p>
          <a:p>
            <a:pPr marL="342900" indent="-342900">
              <a:buFont typeface="Arial" panose="020B0604020202020204" pitchFamily="34" charset="0"/>
              <a:buChar char="•"/>
            </a:pPr>
            <a:endParaRPr lang="en-US" sz="2000" dirty="0">
              <a:latin typeface="Times" panose="02020603050405020304" pitchFamily="18" charset="0"/>
              <a:cs typeface="Times" panose="02020603050405020304" pitchFamily="18" charset="0"/>
            </a:endParaRPr>
          </a:p>
          <a:p>
            <a:pPr marL="342900" indent="-342900">
              <a:buFont typeface="Arial" panose="020B0604020202020204" pitchFamily="34" charset="0"/>
              <a:buChar char="•"/>
            </a:pPr>
            <a:endParaRPr lang="en-US" sz="2000" dirty="0" smtClean="0">
              <a:latin typeface="Times" panose="02020603050405020304" pitchFamily="18" charset="0"/>
              <a:cs typeface="Times" panose="02020603050405020304" pitchFamily="18" charset="0"/>
            </a:endParaRPr>
          </a:p>
          <a:p>
            <a:pPr marL="342900" indent="-342900">
              <a:buFont typeface="Arial" panose="020B0604020202020204" pitchFamily="34" charset="0"/>
              <a:buChar char="•"/>
            </a:pPr>
            <a:endParaRPr lang="en-US" sz="2000" dirty="0">
              <a:latin typeface="Times" panose="02020603050405020304" pitchFamily="18" charset="0"/>
              <a:cs typeface="Times" panose="02020603050405020304" pitchFamily="18" charset="0"/>
            </a:endParaRPr>
          </a:p>
          <a:p>
            <a:pPr marL="342900" indent="-342900">
              <a:buFont typeface="Arial" panose="020B0604020202020204" pitchFamily="34" charset="0"/>
              <a:buChar char="•"/>
            </a:pPr>
            <a:endParaRPr lang="en-US" sz="2000" dirty="0" smtClean="0">
              <a:latin typeface="Times" panose="02020603050405020304" pitchFamily="18" charset="0"/>
              <a:cs typeface="Times" panose="02020603050405020304" pitchFamily="18" charset="0"/>
            </a:endParaRPr>
          </a:p>
          <a:p>
            <a:pPr marL="342900" indent="-342900">
              <a:buFont typeface="Arial" panose="020B0604020202020204" pitchFamily="34" charset="0"/>
              <a:buChar char="•"/>
            </a:pPr>
            <a:endParaRPr lang="en-US" sz="2000" dirty="0">
              <a:latin typeface="Times" panose="02020603050405020304" pitchFamily="18" charset="0"/>
              <a:cs typeface="Times" panose="02020603050405020304" pitchFamily="18" charset="0"/>
            </a:endParaRPr>
          </a:p>
          <a:p>
            <a:pPr marL="342900" indent="-342900">
              <a:buFont typeface="Arial" panose="020B0604020202020204" pitchFamily="34" charset="0"/>
              <a:buChar char="•"/>
            </a:pPr>
            <a:endParaRPr lang="en-US" sz="2000" dirty="0" smtClean="0">
              <a:latin typeface="Times" panose="02020603050405020304" pitchFamily="18" charset="0"/>
              <a:cs typeface="Times" panose="02020603050405020304" pitchFamily="18" charset="0"/>
            </a:endParaRPr>
          </a:p>
          <a:p>
            <a:pPr marL="342900" indent="-342900">
              <a:buFont typeface="Arial" panose="020B0604020202020204" pitchFamily="34" charset="0"/>
              <a:buChar char="•"/>
            </a:pPr>
            <a:endParaRPr lang="en-US" sz="2000" dirty="0" smtClean="0">
              <a:latin typeface="Times" panose="02020603050405020304" pitchFamily="18" charset="0"/>
              <a:cs typeface="Times" panose="02020603050405020304" pitchFamily="18" charset="0"/>
            </a:endParaRPr>
          </a:p>
          <a:p>
            <a:pPr marL="342900" indent="-342900">
              <a:buFont typeface="Arial" panose="020B0604020202020204" pitchFamily="34" charset="0"/>
              <a:buChar char="•"/>
            </a:pPr>
            <a:r>
              <a:rPr lang="en-US" sz="2000" dirty="0" smtClean="0">
                <a:latin typeface="Times" panose="02020603050405020304" pitchFamily="18" charset="0"/>
                <a:cs typeface="Times" panose="02020603050405020304" pitchFamily="18" charset="0"/>
              </a:rPr>
              <a:t>It is represented as |g2 g1 </a:t>
            </a:r>
            <a:r>
              <a:rPr lang="en-US" sz="2000" dirty="0" smtClean="0">
                <a:latin typeface="Times" panose="02020603050405020304" pitchFamily="18" charset="0"/>
                <a:cs typeface="Times" panose="02020603050405020304" pitchFamily="18" charset="0"/>
              </a:rPr>
              <a:t>g0</a:t>
            </a:r>
            <a:r>
              <a:rPr lang="en-IN" sz="2000" dirty="0" smtClean="0"/>
              <a:t> ⟩</a:t>
            </a:r>
            <a:r>
              <a:rPr lang="en-US" sz="2000" dirty="0" smtClean="0">
                <a:latin typeface="Times" panose="02020603050405020304" pitchFamily="18" charset="0"/>
                <a:cs typeface="Times" panose="02020603050405020304" pitchFamily="18" charset="0"/>
              </a:rPr>
              <a:t> </a:t>
            </a:r>
            <a:r>
              <a:rPr lang="en-IN" dirty="0"/>
              <a:t>⊗ ∣row⟩ ⊗ ∣col</a:t>
            </a:r>
            <a:r>
              <a:rPr lang="en-IN" dirty="0" smtClean="0"/>
              <a:t>⟩ </a:t>
            </a:r>
            <a:endParaRPr lang="en-IN" dirty="0" smtClean="0"/>
          </a:p>
          <a:p>
            <a:pPr marL="342900" indent="-342900">
              <a:buFont typeface="Arial" panose="020B0604020202020204" pitchFamily="34" charset="0"/>
              <a:buChar char="•"/>
            </a:pPr>
            <a:r>
              <a:rPr lang="en-IN" sz="2000" dirty="0" smtClean="0">
                <a:latin typeface="Times" panose="02020603050405020304" pitchFamily="18" charset="0"/>
                <a:cs typeface="Times" panose="02020603050405020304" pitchFamily="18" charset="0"/>
              </a:rPr>
              <a:t>The output of 2x2 input image is shown in fig 5.</a:t>
            </a:r>
            <a:endParaRPr lang="en-US" sz="2000" dirty="0" smtClean="0">
              <a:latin typeface="Times" panose="02020603050405020304" pitchFamily="18" charset="0"/>
              <a:cs typeface="Times" panose="02020603050405020304" pitchFamily="18" charset="0"/>
            </a:endParaRPr>
          </a:p>
          <a:p>
            <a:pPr marL="342900" indent="-342900">
              <a:buFont typeface="Arial" panose="020B0604020202020204" pitchFamily="34" charset="0"/>
              <a:buChar char="•"/>
            </a:pPr>
            <a:endParaRPr lang="en-IN" sz="2000" dirty="0">
              <a:latin typeface="Times" panose="02020603050405020304" pitchFamily="18" charset="0"/>
              <a:cs typeface="Times" panose="02020603050405020304" pitchFamily="18" charset="0"/>
            </a:endParaRPr>
          </a:p>
        </p:txBody>
      </p:sp>
      <p:pic>
        <p:nvPicPr>
          <p:cNvPr id="4" name="Picture 3" descr="E:\1_NEQR__NN\1_NEQR__NN\1_NEQR__NN\NN\step3_circuit.png"/>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2456708" y="2705914"/>
            <a:ext cx="5847715" cy="2190115"/>
          </a:xfrm>
          <a:prstGeom prst="rect">
            <a:avLst/>
          </a:prstGeom>
          <a:noFill/>
          <a:ln>
            <a:noFill/>
          </a:ln>
        </p:spPr>
      </p:pic>
      <p:sp>
        <p:nvSpPr>
          <p:cNvPr id="5" name="Rectangle 4"/>
          <p:cNvSpPr/>
          <p:nvPr/>
        </p:nvSpPr>
        <p:spPr>
          <a:xfrm>
            <a:off x="2866237" y="5008266"/>
            <a:ext cx="5448928" cy="410882"/>
          </a:xfrm>
          <a:prstGeom prst="rect">
            <a:avLst/>
          </a:prstGeom>
        </p:spPr>
        <p:txBody>
          <a:bodyPr wrap="none">
            <a:spAutoFit/>
          </a:bodyPr>
          <a:lstStyle/>
          <a:p>
            <a:pPr>
              <a:lnSpc>
                <a:spcPct val="115000"/>
              </a:lnSpc>
              <a:spcAft>
                <a:spcPts val="800"/>
              </a:spcAft>
            </a:pPr>
            <a:r>
              <a:rPr lang="en-IN" kern="0" dirty="0" smtClean="0">
                <a:latin typeface="Times New Roman" panose="02020603050405020304" pitchFamily="18" charset="0"/>
                <a:ea typeface="Times New Roman" panose="02020603050405020304" pitchFamily="18" charset="0"/>
                <a:cs typeface="Times New Roman" panose="02020603050405020304" pitchFamily="18" charset="0"/>
              </a:rPr>
              <a:t>Fig:2  </a:t>
            </a:r>
            <a:r>
              <a:rPr lang="en-IN" kern="0" dirty="0">
                <a:latin typeface="Times New Roman" panose="02020603050405020304" pitchFamily="18" charset="0"/>
                <a:ea typeface="Times New Roman" panose="02020603050405020304" pitchFamily="18" charset="0"/>
                <a:cs typeface="Times New Roman" panose="02020603050405020304" pitchFamily="18" charset="0"/>
              </a:rPr>
              <a:t>Quantum Circuit diagram of </a:t>
            </a:r>
            <a:r>
              <a:rPr lang="en-IN" kern="0" dirty="0" smtClean="0">
                <a:latin typeface="Times New Roman" panose="02020603050405020304" pitchFamily="18" charset="0"/>
                <a:ea typeface="Times New Roman" panose="02020603050405020304" pitchFamily="18" charset="0"/>
                <a:cs typeface="Times New Roman" panose="02020603050405020304" pitchFamily="18" charset="0"/>
              </a:rPr>
              <a:t>NEQR for 2x2 image</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 xmlns:p14="http://schemas.microsoft.com/office/powerpoint/2010/main" val="34448622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32933" y="745910"/>
            <a:ext cx="10388600" cy="4370427"/>
          </a:xfrm>
          <a:prstGeom prst="rect">
            <a:avLst/>
          </a:prstGeom>
          <a:noFill/>
        </p:spPr>
        <p:txBody>
          <a:bodyPr wrap="square" rtlCol="0">
            <a:spAutoFit/>
          </a:bodyPr>
          <a:lstStyle/>
          <a:p>
            <a:r>
              <a:rPr lang="en-US" b="1" dirty="0" smtClean="0">
                <a:latin typeface="Times" panose="02020603050405020304" pitchFamily="18" charset="0"/>
                <a:cs typeface="Times" panose="02020603050405020304" pitchFamily="18" charset="0"/>
              </a:rPr>
              <a:t>FRQI:</a:t>
            </a:r>
          </a:p>
          <a:p>
            <a:endParaRPr lang="en-US" b="1" dirty="0" smtClean="0">
              <a:latin typeface="Times" panose="02020603050405020304" pitchFamily="18" charset="0"/>
              <a:cs typeface="Times" panose="02020603050405020304" pitchFamily="18" charset="0"/>
            </a:endParaRPr>
          </a:p>
          <a:p>
            <a:endParaRPr lang="en-US" b="1" dirty="0" smtClean="0">
              <a:latin typeface="Times" panose="02020603050405020304" pitchFamily="18" charset="0"/>
              <a:cs typeface="Times" panose="02020603050405020304" pitchFamily="18" charset="0"/>
            </a:endParaRPr>
          </a:p>
          <a:p>
            <a:endParaRPr lang="en-US" b="1" dirty="0" smtClean="0">
              <a:latin typeface="Times" panose="02020603050405020304" pitchFamily="18" charset="0"/>
              <a:cs typeface="Times" panose="02020603050405020304" pitchFamily="18" charset="0"/>
            </a:endParaRPr>
          </a:p>
          <a:p>
            <a:endParaRPr lang="en-US" b="1" dirty="0" smtClean="0">
              <a:latin typeface="Times" panose="02020603050405020304" pitchFamily="18" charset="0"/>
              <a:cs typeface="Times" panose="02020603050405020304" pitchFamily="18" charset="0"/>
            </a:endParaRPr>
          </a:p>
          <a:p>
            <a:endParaRPr lang="en-US" b="1" dirty="0" smtClean="0">
              <a:latin typeface="Times" panose="02020603050405020304" pitchFamily="18" charset="0"/>
              <a:cs typeface="Times" panose="02020603050405020304" pitchFamily="18" charset="0"/>
            </a:endParaRPr>
          </a:p>
          <a:p>
            <a:endParaRPr lang="en-US" b="1" dirty="0" smtClean="0">
              <a:latin typeface="Times" panose="02020603050405020304" pitchFamily="18" charset="0"/>
              <a:cs typeface="Times" panose="02020603050405020304" pitchFamily="18" charset="0"/>
            </a:endParaRPr>
          </a:p>
          <a:p>
            <a:endParaRPr lang="en-US" b="1" dirty="0" smtClean="0">
              <a:latin typeface="Times" panose="02020603050405020304" pitchFamily="18" charset="0"/>
              <a:cs typeface="Times" panose="02020603050405020304" pitchFamily="18" charset="0"/>
            </a:endParaRPr>
          </a:p>
          <a:p>
            <a:endParaRPr lang="en-US" b="1" dirty="0" smtClean="0">
              <a:latin typeface="Times" panose="02020603050405020304" pitchFamily="18" charset="0"/>
              <a:cs typeface="Times" panose="02020603050405020304" pitchFamily="18" charset="0"/>
            </a:endParaRPr>
          </a:p>
          <a:p>
            <a:r>
              <a:rPr lang="en-US" sz="2000" b="1" dirty="0">
                <a:latin typeface="Times" panose="02020603050405020304" pitchFamily="18" charset="0"/>
                <a:cs typeface="Times" panose="02020603050405020304" pitchFamily="18" charset="0"/>
              </a:rPr>
              <a:t> </a:t>
            </a:r>
            <a:r>
              <a:rPr lang="en-US" sz="2000" b="1" dirty="0" smtClean="0">
                <a:latin typeface="Times" panose="02020603050405020304" pitchFamily="18" charset="0"/>
                <a:cs typeface="Times" panose="02020603050405020304" pitchFamily="18" charset="0"/>
              </a:rPr>
              <a:t>                         </a:t>
            </a:r>
            <a:r>
              <a:rPr lang="en-IN" sz="2000" dirty="0" smtClean="0">
                <a:latin typeface="Times" panose="02020603050405020304" pitchFamily="18" charset="0"/>
                <a:cs typeface="Times" panose="02020603050405020304" pitchFamily="18" charset="0"/>
              </a:rPr>
              <a:t>Fig:3 Quantum </a:t>
            </a:r>
            <a:r>
              <a:rPr lang="en-IN" sz="2000" dirty="0">
                <a:latin typeface="Times" panose="02020603050405020304" pitchFamily="18" charset="0"/>
                <a:cs typeface="Times" panose="02020603050405020304" pitchFamily="18" charset="0"/>
              </a:rPr>
              <a:t>circuit diagram of </a:t>
            </a:r>
            <a:r>
              <a:rPr lang="en-IN" sz="2000" dirty="0" smtClean="0">
                <a:latin typeface="Times" panose="02020603050405020304" pitchFamily="18" charset="0"/>
                <a:cs typeface="Times" panose="02020603050405020304" pitchFamily="18" charset="0"/>
              </a:rPr>
              <a:t>FRQI for 2x2 image</a:t>
            </a:r>
          </a:p>
          <a:p>
            <a:pPr algn="just"/>
            <a:endParaRPr lang="en-IN" sz="2000" dirty="0" smtClean="0">
              <a:latin typeface="Times" panose="02020603050405020304" pitchFamily="18" charset="0"/>
              <a:cs typeface="Times" panose="02020603050405020304" pitchFamily="18" charset="0"/>
            </a:endParaRPr>
          </a:p>
          <a:p>
            <a:pPr marL="285750" indent="-285750" algn="just">
              <a:buFont typeface="Arial" panose="020B0604020202020204" pitchFamily="34" charset="0"/>
              <a:buChar char="•"/>
            </a:pPr>
            <a:r>
              <a:rPr lang="en-IN" sz="2000" dirty="0" smtClean="0">
                <a:latin typeface="Times" panose="02020603050405020304" pitchFamily="18" charset="0"/>
                <a:cs typeface="Times" panose="02020603050405020304" pitchFamily="18" charset="0"/>
              </a:rPr>
              <a:t>It is represented as </a:t>
            </a:r>
            <a:r>
              <a:rPr lang="en-US" sz="2000" dirty="0">
                <a:latin typeface="Times" panose="02020603050405020304" pitchFamily="18" charset="0"/>
                <a:cs typeface="Times" panose="02020603050405020304" pitchFamily="18" charset="0"/>
              </a:rPr>
              <a:t>|</a:t>
            </a:r>
            <a:r>
              <a:rPr lang="en-US" sz="2000" dirty="0" smtClean="0">
                <a:latin typeface="Times" panose="02020603050405020304" pitchFamily="18" charset="0"/>
                <a:cs typeface="Times" panose="02020603050405020304" pitchFamily="18" charset="0"/>
              </a:rPr>
              <a:t>g&gt; </a:t>
            </a:r>
            <a:r>
              <a:rPr lang="en-IN" sz="2000" dirty="0"/>
              <a:t>⊗ ∣row⟩ ⊗ ∣col⟩ </a:t>
            </a:r>
            <a:endParaRPr lang="en-IN" sz="2000" dirty="0" smtClean="0"/>
          </a:p>
          <a:p>
            <a:pPr algn="just"/>
            <a:endParaRPr lang="en-US" sz="2000" dirty="0">
              <a:latin typeface="Times" panose="02020603050405020304" pitchFamily="18" charset="0"/>
              <a:cs typeface="Times" panose="02020603050405020304" pitchFamily="18" charset="0"/>
            </a:endParaRPr>
          </a:p>
          <a:p>
            <a:pPr marL="285750" indent="-285750" algn="just">
              <a:buFont typeface="Arial" panose="020B0604020202020204" pitchFamily="34" charset="0"/>
              <a:buChar char="•"/>
            </a:pPr>
            <a:r>
              <a:rPr lang="en-IN" sz="2000" dirty="0" smtClean="0">
                <a:latin typeface="Times" panose="02020603050405020304" pitchFamily="18" charset="0"/>
                <a:cs typeface="Times" panose="02020603050405020304" pitchFamily="18" charset="0"/>
              </a:rPr>
              <a:t>The  Outputs obtain are same as the NEQR</a:t>
            </a:r>
            <a:r>
              <a:rPr lang="en-IN" sz="2000" dirty="0" smtClean="0">
                <a:latin typeface="Times" panose="02020603050405020304" pitchFamily="18" charset="0"/>
                <a:cs typeface="Times" panose="02020603050405020304" pitchFamily="18" charset="0"/>
              </a:rPr>
              <a:t>. The </a:t>
            </a:r>
            <a:r>
              <a:rPr lang="en-IN" sz="2000" dirty="0" smtClean="0">
                <a:latin typeface="Times" panose="02020603050405020304" pitchFamily="18" charset="0"/>
                <a:cs typeface="Times" panose="02020603050405020304" pitchFamily="18" charset="0"/>
              </a:rPr>
              <a:t>output is shown in fig 5.</a:t>
            </a:r>
            <a:endParaRPr lang="en-US" sz="2000" b="1" dirty="0">
              <a:latin typeface="Times" panose="02020603050405020304" pitchFamily="18" charset="0"/>
              <a:cs typeface="Times" panose="02020603050405020304" pitchFamily="18" charset="0"/>
            </a:endParaRPr>
          </a:p>
          <a:p>
            <a:endParaRPr lang="en-US" b="1" dirty="0" smtClean="0">
              <a:latin typeface="Times" panose="02020603050405020304" pitchFamily="18" charset="0"/>
              <a:cs typeface="Times" panose="02020603050405020304" pitchFamily="18" charset="0"/>
            </a:endParaRPr>
          </a:p>
        </p:txBody>
      </p:sp>
      <p:pic>
        <p:nvPicPr>
          <p:cNvPr id="3" name="Picture 2"/>
          <p:cNvPicPr/>
          <p:nvPr/>
        </p:nvPicPr>
        <p:blipFill>
          <a:blip r:embed="rId2">
            <a:extLst>
              <a:ext uri="{28A0092B-C50C-407E-A947-70E740481C1C}">
                <a14:useLocalDpi xmlns="" xmlns:a14="http://schemas.microsoft.com/office/drawing/2010/main" val="0"/>
              </a:ext>
            </a:extLst>
          </a:blip>
          <a:stretch>
            <a:fillRect/>
          </a:stretch>
        </p:blipFill>
        <p:spPr>
          <a:xfrm>
            <a:off x="2205777" y="1172865"/>
            <a:ext cx="6032289" cy="2112202"/>
          </a:xfrm>
          <a:prstGeom prst="rect">
            <a:avLst/>
          </a:prstGeom>
        </p:spPr>
      </p:pic>
    </p:spTree>
    <p:extLst>
      <p:ext uri="{BB962C8B-B14F-4D97-AF65-F5344CB8AC3E}">
        <p14:creationId xmlns="" xmlns:p14="http://schemas.microsoft.com/office/powerpoint/2010/main" val="14949712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15533" y="1083733"/>
            <a:ext cx="8746067" cy="4708981"/>
          </a:xfrm>
          <a:prstGeom prst="rect">
            <a:avLst/>
          </a:prstGeom>
          <a:noFill/>
        </p:spPr>
        <p:txBody>
          <a:bodyPr wrap="square" rtlCol="0">
            <a:spAutoFit/>
          </a:bodyPr>
          <a:lstStyle/>
          <a:p>
            <a:r>
              <a:rPr lang="en-US" sz="2000" b="1" dirty="0" smtClean="0">
                <a:latin typeface="Times" panose="02020603050405020304" pitchFamily="18" charset="0"/>
                <a:cs typeface="Times" panose="02020603050405020304" pitchFamily="18" charset="0"/>
              </a:rPr>
              <a:t>MCQI :</a:t>
            </a:r>
          </a:p>
          <a:p>
            <a:endParaRPr lang="en-US" sz="2000" b="1" dirty="0" smtClean="0">
              <a:latin typeface="Times" panose="02020603050405020304" pitchFamily="18" charset="0"/>
              <a:cs typeface="Times" panose="02020603050405020304" pitchFamily="18" charset="0"/>
            </a:endParaRPr>
          </a:p>
          <a:p>
            <a:endParaRPr lang="en-US" sz="2000" b="1" dirty="0" smtClean="0">
              <a:latin typeface="Times" panose="02020603050405020304" pitchFamily="18" charset="0"/>
              <a:cs typeface="Times" panose="02020603050405020304" pitchFamily="18" charset="0"/>
            </a:endParaRPr>
          </a:p>
          <a:p>
            <a:endParaRPr lang="en-US" sz="2000" b="1" dirty="0" smtClean="0">
              <a:latin typeface="Times" panose="02020603050405020304" pitchFamily="18" charset="0"/>
              <a:cs typeface="Times" panose="02020603050405020304" pitchFamily="18" charset="0"/>
            </a:endParaRPr>
          </a:p>
          <a:p>
            <a:endParaRPr lang="en-US" sz="2000" b="1" dirty="0" smtClean="0">
              <a:latin typeface="Times" panose="02020603050405020304" pitchFamily="18" charset="0"/>
              <a:cs typeface="Times" panose="02020603050405020304" pitchFamily="18" charset="0"/>
            </a:endParaRPr>
          </a:p>
          <a:p>
            <a:endParaRPr lang="en-US" sz="2000" b="1" dirty="0" smtClean="0">
              <a:latin typeface="Times" panose="02020603050405020304" pitchFamily="18" charset="0"/>
              <a:cs typeface="Times" panose="02020603050405020304" pitchFamily="18" charset="0"/>
            </a:endParaRPr>
          </a:p>
          <a:p>
            <a:endParaRPr lang="en-US" sz="2000" b="1" dirty="0" smtClean="0">
              <a:latin typeface="Times" panose="02020603050405020304" pitchFamily="18" charset="0"/>
              <a:cs typeface="Times" panose="02020603050405020304" pitchFamily="18" charset="0"/>
            </a:endParaRPr>
          </a:p>
          <a:p>
            <a:endParaRPr lang="en-US" sz="2000" b="1" dirty="0" smtClean="0">
              <a:latin typeface="Times" panose="02020603050405020304" pitchFamily="18" charset="0"/>
              <a:cs typeface="Times" panose="02020603050405020304" pitchFamily="18" charset="0"/>
            </a:endParaRPr>
          </a:p>
          <a:p>
            <a:r>
              <a:rPr lang="en-IN" sz="2000" i="1" dirty="0" smtClean="0">
                <a:latin typeface="Times" panose="02020603050405020304" pitchFamily="18" charset="0"/>
                <a:cs typeface="Times" panose="02020603050405020304" pitchFamily="18" charset="0"/>
              </a:rPr>
              <a:t>                  </a:t>
            </a:r>
            <a:r>
              <a:rPr lang="en-IN" sz="2000" dirty="0" smtClean="0">
                <a:latin typeface="Times" panose="02020603050405020304" pitchFamily="18" charset="0"/>
                <a:cs typeface="Times" panose="02020603050405020304" pitchFamily="18" charset="0"/>
              </a:rPr>
              <a:t>Fig </a:t>
            </a:r>
            <a:r>
              <a:rPr lang="en-IN" sz="2000" dirty="0">
                <a:latin typeface="Times" panose="02020603050405020304" pitchFamily="18" charset="0"/>
                <a:cs typeface="Times" panose="02020603050405020304" pitchFamily="18" charset="0"/>
              </a:rPr>
              <a:t>4</a:t>
            </a:r>
            <a:r>
              <a:rPr lang="en-IN" sz="2000" dirty="0" smtClean="0">
                <a:latin typeface="Times" panose="02020603050405020304" pitchFamily="18" charset="0"/>
                <a:cs typeface="Times" panose="02020603050405020304" pitchFamily="18" charset="0"/>
              </a:rPr>
              <a:t> </a:t>
            </a:r>
            <a:r>
              <a:rPr lang="en-IN" sz="2000" dirty="0">
                <a:latin typeface="Times" panose="02020603050405020304" pitchFamily="18" charset="0"/>
                <a:cs typeface="Times" panose="02020603050405020304" pitchFamily="18" charset="0"/>
              </a:rPr>
              <a:t>Quantum Circuit diagram of </a:t>
            </a:r>
            <a:r>
              <a:rPr lang="en-IN" sz="2000" dirty="0" smtClean="0">
                <a:latin typeface="Times" panose="02020603050405020304" pitchFamily="18" charset="0"/>
                <a:cs typeface="Times" panose="02020603050405020304" pitchFamily="18" charset="0"/>
              </a:rPr>
              <a:t>MCQI for 2x2 image</a:t>
            </a:r>
          </a:p>
          <a:p>
            <a:endParaRPr lang="en-IN" sz="2000" dirty="0">
              <a:latin typeface="Times" panose="02020603050405020304" pitchFamily="18" charset="0"/>
              <a:cs typeface="Times" panose="02020603050405020304" pitchFamily="18" charset="0"/>
            </a:endParaRPr>
          </a:p>
          <a:p>
            <a:pPr marL="342900" indent="-342900">
              <a:buFont typeface="Arial" panose="020B0604020202020204" pitchFamily="34" charset="0"/>
              <a:buChar char="•"/>
            </a:pPr>
            <a:r>
              <a:rPr lang="en-US" sz="2000" dirty="0" smtClean="0">
                <a:latin typeface="Times" panose="02020603050405020304" pitchFamily="18" charset="0"/>
                <a:cs typeface="Times" panose="02020603050405020304" pitchFamily="18" charset="0"/>
              </a:rPr>
              <a:t>It is represented as </a:t>
            </a:r>
            <a:r>
              <a:rPr lang="en-IN" dirty="0">
                <a:latin typeface="Times" panose="02020603050405020304" pitchFamily="18" charset="0"/>
                <a:cs typeface="Times" panose="02020603050405020304" pitchFamily="18" charset="0"/>
              </a:rPr>
              <a:t> ∣R⟩∣G⟩∣B⟩ ⊗ ∣row⟩ ⊗ ∣col</a:t>
            </a:r>
            <a:r>
              <a:rPr lang="en-IN" dirty="0" smtClean="0">
                <a:latin typeface="Times" panose="02020603050405020304" pitchFamily="18" charset="0"/>
                <a:cs typeface="Times" panose="02020603050405020304" pitchFamily="18" charset="0"/>
              </a:rPr>
              <a:t>⟩</a:t>
            </a:r>
          </a:p>
          <a:p>
            <a:pPr marL="342900" indent="-342900">
              <a:buFont typeface="Arial" panose="020B0604020202020204" pitchFamily="34" charset="0"/>
              <a:buChar char="•"/>
            </a:pPr>
            <a:r>
              <a:rPr lang="en-US" sz="2000" dirty="0" smtClean="0">
                <a:latin typeface="Times" panose="02020603050405020304" pitchFamily="18" charset="0"/>
                <a:cs typeface="Times" panose="02020603050405020304" pitchFamily="18" charset="0"/>
              </a:rPr>
              <a:t>The outputs obtained are same as the NEQR and FRQI</a:t>
            </a:r>
            <a:r>
              <a:rPr lang="en-US" sz="2000" dirty="0" smtClean="0">
                <a:latin typeface="Times" panose="02020603050405020304" pitchFamily="18" charset="0"/>
                <a:cs typeface="Times" panose="02020603050405020304" pitchFamily="18" charset="0"/>
              </a:rPr>
              <a:t>. The output image is shown in fig 5.</a:t>
            </a:r>
            <a:endParaRPr lang="en-US" sz="2000" dirty="0" smtClean="0">
              <a:latin typeface="Times" panose="02020603050405020304" pitchFamily="18" charset="0"/>
              <a:cs typeface="Times" panose="02020603050405020304" pitchFamily="18" charset="0"/>
            </a:endParaRPr>
          </a:p>
          <a:p>
            <a:endParaRPr lang="en-US" sz="2000" b="1" dirty="0" smtClean="0">
              <a:latin typeface="Times" panose="02020603050405020304" pitchFamily="18" charset="0"/>
              <a:cs typeface="Times" panose="02020603050405020304" pitchFamily="18" charset="0"/>
            </a:endParaRPr>
          </a:p>
          <a:p>
            <a:endParaRPr lang="en-IN" sz="2000" b="1" dirty="0">
              <a:latin typeface="Times" panose="02020603050405020304" pitchFamily="18" charset="0"/>
              <a:cs typeface="Times" panose="02020603050405020304" pitchFamily="18" charset="0"/>
            </a:endParaRPr>
          </a:p>
        </p:txBody>
      </p:sp>
      <p:pic>
        <p:nvPicPr>
          <p:cNvPr id="3" name="Picture 2"/>
          <p:cNvPicPr/>
          <p:nvPr/>
        </p:nvPicPr>
        <p:blipFill>
          <a:blip r:embed="rId2" cstate="print">
            <a:extLst>
              <a:ext uri="{28A0092B-C50C-407E-A947-70E740481C1C}">
                <a14:useLocalDpi xmlns="" xmlns:a14="http://schemas.microsoft.com/office/drawing/2010/main" val="0"/>
              </a:ext>
            </a:extLst>
          </a:blip>
          <a:stretch>
            <a:fillRect/>
          </a:stretch>
        </p:blipFill>
        <p:spPr>
          <a:xfrm>
            <a:off x="2442844" y="1437534"/>
            <a:ext cx="6015355" cy="2084599"/>
          </a:xfrm>
          <a:prstGeom prst="rect">
            <a:avLst/>
          </a:prstGeom>
        </p:spPr>
      </p:pic>
    </p:spTree>
    <p:extLst>
      <p:ext uri="{BB962C8B-B14F-4D97-AF65-F5344CB8AC3E}">
        <p14:creationId xmlns="" xmlns:p14="http://schemas.microsoft.com/office/powerpoint/2010/main" val="23604873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80067" y="973667"/>
            <a:ext cx="9448800" cy="5324535"/>
          </a:xfrm>
          <a:prstGeom prst="rect">
            <a:avLst/>
          </a:prstGeom>
          <a:noFill/>
        </p:spPr>
        <p:txBody>
          <a:bodyPr wrap="square" rtlCol="0">
            <a:spAutoFit/>
          </a:bodyPr>
          <a:lstStyle/>
          <a:p>
            <a:pPr algn="just"/>
            <a:r>
              <a:rPr lang="en-US" sz="2000" b="1" dirty="0" smtClean="0">
                <a:latin typeface="Times" panose="02020603050405020304" pitchFamily="18" charset="0"/>
                <a:cs typeface="Times" panose="02020603050405020304" pitchFamily="18" charset="0"/>
              </a:rPr>
              <a:t>OUTPUT :</a:t>
            </a:r>
          </a:p>
          <a:p>
            <a:pPr algn="just"/>
            <a:endParaRPr lang="en-US" sz="2000" b="1" dirty="0">
              <a:latin typeface="Times" panose="02020603050405020304" pitchFamily="18" charset="0"/>
              <a:cs typeface="Times" panose="02020603050405020304" pitchFamily="18" charset="0"/>
            </a:endParaRPr>
          </a:p>
          <a:p>
            <a:pPr algn="just"/>
            <a:endParaRPr lang="en-US" sz="2000" b="1" dirty="0" smtClean="0">
              <a:latin typeface="Times" panose="02020603050405020304" pitchFamily="18" charset="0"/>
              <a:cs typeface="Times" panose="02020603050405020304" pitchFamily="18" charset="0"/>
            </a:endParaRPr>
          </a:p>
          <a:p>
            <a:pPr algn="just"/>
            <a:endParaRPr lang="en-US" sz="2000" b="1" dirty="0">
              <a:latin typeface="Times" panose="02020603050405020304" pitchFamily="18" charset="0"/>
              <a:cs typeface="Times" panose="02020603050405020304" pitchFamily="18" charset="0"/>
            </a:endParaRPr>
          </a:p>
          <a:p>
            <a:pPr algn="just"/>
            <a:endParaRPr lang="en-US" sz="2000" b="1" dirty="0" smtClean="0">
              <a:latin typeface="Times" panose="02020603050405020304" pitchFamily="18" charset="0"/>
              <a:cs typeface="Times" panose="02020603050405020304" pitchFamily="18" charset="0"/>
            </a:endParaRPr>
          </a:p>
          <a:p>
            <a:pPr algn="just"/>
            <a:endParaRPr lang="en-US" sz="2000" b="1" dirty="0">
              <a:latin typeface="Times" panose="02020603050405020304" pitchFamily="18" charset="0"/>
              <a:cs typeface="Times" panose="02020603050405020304" pitchFamily="18" charset="0"/>
            </a:endParaRPr>
          </a:p>
          <a:p>
            <a:pPr algn="just"/>
            <a:endParaRPr lang="en-US" sz="2000" b="1" dirty="0" smtClean="0">
              <a:latin typeface="Times" panose="02020603050405020304" pitchFamily="18" charset="0"/>
              <a:cs typeface="Times" panose="02020603050405020304" pitchFamily="18" charset="0"/>
            </a:endParaRPr>
          </a:p>
          <a:p>
            <a:pPr algn="just"/>
            <a:endParaRPr lang="en-US" sz="2000" b="1" dirty="0">
              <a:latin typeface="Times" panose="02020603050405020304" pitchFamily="18" charset="0"/>
              <a:cs typeface="Times" panose="02020603050405020304" pitchFamily="18" charset="0"/>
            </a:endParaRPr>
          </a:p>
          <a:p>
            <a:pPr algn="just"/>
            <a:endParaRPr lang="en-US" sz="2000" b="1" dirty="0" smtClean="0">
              <a:latin typeface="Times" panose="02020603050405020304" pitchFamily="18" charset="0"/>
              <a:cs typeface="Times" panose="02020603050405020304" pitchFamily="18" charset="0"/>
            </a:endParaRPr>
          </a:p>
          <a:p>
            <a:pPr algn="just"/>
            <a:endParaRPr lang="en-US" sz="2000" b="1" dirty="0">
              <a:latin typeface="Times" panose="02020603050405020304" pitchFamily="18" charset="0"/>
              <a:cs typeface="Times" panose="02020603050405020304" pitchFamily="18" charset="0"/>
            </a:endParaRPr>
          </a:p>
          <a:p>
            <a:pPr algn="just"/>
            <a:r>
              <a:rPr lang="en-IN" sz="2000" dirty="0" smtClean="0">
                <a:latin typeface="Times" panose="02020603050405020304" pitchFamily="18" charset="0"/>
                <a:cs typeface="Times" panose="02020603050405020304" pitchFamily="18" charset="0"/>
              </a:rPr>
              <a:t>Fig:5  </a:t>
            </a:r>
            <a:r>
              <a:rPr lang="en-IN" sz="2000" dirty="0">
                <a:latin typeface="Times" panose="02020603050405020304" pitchFamily="18" charset="0"/>
                <a:cs typeface="Times" panose="02020603050405020304" pitchFamily="18" charset="0"/>
              </a:rPr>
              <a:t>Output Images for Zoomed, Horizontal Stretching, Vertical Stretching and image </a:t>
            </a:r>
            <a:r>
              <a:rPr lang="en-IN" sz="2000" dirty="0" smtClean="0">
                <a:latin typeface="Times" panose="02020603050405020304" pitchFamily="18" charset="0"/>
                <a:cs typeface="Times" panose="02020603050405020304" pitchFamily="18" charset="0"/>
              </a:rPr>
              <a:t>replication</a:t>
            </a:r>
          </a:p>
          <a:p>
            <a:pPr algn="just"/>
            <a:endParaRPr lang="en-US" sz="2000" dirty="0">
              <a:latin typeface="Times" panose="02020603050405020304" pitchFamily="18" charset="0"/>
              <a:cs typeface="Times" panose="02020603050405020304" pitchFamily="18" charset="0"/>
            </a:endParaRPr>
          </a:p>
          <a:p>
            <a:pPr marL="342900" indent="-342900" algn="just">
              <a:buFont typeface="Arial" panose="020B0604020202020204" pitchFamily="34" charset="0"/>
              <a:buChar char="•"/>
            </a:pPr>
            <a:r>
              <a:rPr lang="en-US" sz="2000" dirty="0" smtClean="0">
                <a:latin typeface="Times" panose="02020603050405020304" pitchFamily="18" charset="0"/>
                <a:cs typeface="Times" panose="02020603050405020304" pitchFamily="18" charset="0"/>
              </a:rPr>
              <a:t>The output images are same for all the methods such as NEQR, FRQI, AND MCQI.</a:t>
            </a:r>
          </a:p>
          <a:p>
            <a:pPr marL="342900" indent="-342900" algn="just">
              <a:buFont typeface="Arial" panose="020B0604020202020204" pitchFamily="34" charset="0"/>
              <a:buChar char="•"/>
            </a:pPr>
            <a:r>
              <a:rPr lang="en-IN" sz="2000" dirty="0"/>
              <a:t>The experimental results demonstrate that quantum image representations can efficiently perform image enlargement and spatial transformations while maintaining image quality</a:t>
            </a:r>
            <a:r>
              <a:rPr lang="en-IN" sz="2000" dirty="0" smtClean="0"/>
              <a:t>.</a:t>
            </a:r>
            <a:endParaRPr lang="en-IN" sz="2000" dirty="0"/>
          </a:p>
        </p:txBody>
      </p:sp>
      <p:pic>
        <p:nvPicPr>
          <p:cNvPr id="3" name="Picture 2"/>
          <p:cNvPicPr/>
          <p:nvPr/>
        </p:nvPicPr>
        <p:blipFill>
          <a:blip r:embed="rId2"/>
          <a:stretch>
            <a:fillRect/>
          </a:stretch>
        </p:blipFill>
        <p:spPr>
          <a:xfrm>
            <a:off x="2761191" y="1097068"/>
            <a:ext cx="5060950" cy="2975399"/>
          </a:xfrm>
          <a:prstGeom prst="rect">
            <a:avLst/>
          </a:prstGeom>
        </p:spPr>
      </p:pic>
    </p:spTree>
    <p:extLst>
      <p:ext uri="{BB962C8B-B14F-4D97-AF65-F5344CB8AC3E}">
        <p14:creationId xmlns="" xmlns:p14="http://schemas.microsoft.com/office/powerpoint/2010/main" val="11837065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64073" y="433494"/>
            <a:ext cx="9776460" cy="5693866"/>
          </a:xfrm>
          <a:prstGeom prst="rect">
            <a:avLst/>
          </a:prstGeom>
          <a:noFill/>
        </p:spPr>
        <p:txBody>
          <a:bodyPr wrap="square" rtlCol="0">
            <a:spAutoFit/>
          </a:bodyPr>
          <a:lstStyle/>
          <a:p>
            <a:r>
              <a:rPr lang="en-US" sz="2400" dirty="0" smtClean="0">
                <a:latin typeface="Times"/>
              </a:rPr>
              <a:t>                                                   </a:t>
            </a:r>
            <a:r>
              <a:rPr lang="en-US" sz="2400" b="1" dirty="0" smtClean="0">
                <a:latin typeface="Times"/>
              </a:rPr>
              <a:t>USING .</a:t>
            </a:r>
            <a:r>
              <a:rPr lang="en-US" sz="2400" b="1" dirty="0" err="1" smtClean="0">
                <a:latin typeface="Times"/>
              </a:rPr>
              <a:t>tif</a:t>
            </a:r>
            <a:r>
              <a:rPr lang="en-US" sz="2400" b="1" dirty="0" smtClean="0">
                <a:latin typeface="Times"/>
              </a:rPr>
              <a:t> image</a:t>
            </a:r>
          </a:p>
          <a:p>
            <a:endParaRPr lang="en-US" sz="2000" b="1" dirty="0" smtClean="0">
              <a:latin typeface="Times"/>
            </a:endParaRPr>
          </a:p>
          <a:p>
            <a:r>
              <a:rPr lang="en-US" sz="2000" b="1" dirty="0" smtClean="0">
                <a:latin typeface="Times"/>
              </a:rPr>
              <a:t>NEQR :</a:t>
            </a:r>
          </a:p>
          <a:p>
            <a:endParaRPr lang="en-US" sz="2000" b="1" dirty="0" smtClean="0">
              <a:latin typeface="Times"/>
            </a:endParaRPr>
          </a:p>
          <a:p>
            <a:endParaRPr lang="en-US" sz="2000" b="1" dirty="0" smtClean="0">
              <a:latin typeface="Times"/>
            </a:endParaRPr>
          </a:p>
          <a:p>
            <a:endParaRPr lang="en-US" sz="2000" b="1" dirty="0" smtClean="0">
              <a:latin typeface="Times"/>
            </a:endParaRPr>
          </a:p>
          <a:p>
            <a:endParaRPr lang="en-US" sz="2000" b="1" dirty="0" smtClean="0">
              <a:latin typeface="Times"/>
            </a:endParaRPr>
          </a:p>
          <a:p>
            <a:endParaRPr lang="en-US" sz="2000" b="1" dirty="0" smtClean="0">
              <a:latin typeface="Times"/>
            </a:endParaRPr>
          </a:p>
          <a:p>
            <a:endParaRPr lang="en-US" sz="2000" b="1" dirty="0" smtClean="0">
              <a:latin typeface="Times"/>
            </a:endParaRPr>
          </a:p>
          <a:p>
            <a:endParaRPr lang="en-US" sz="2000" b="1" dirty="0" smtClean="0">
              <a:latin typeface="Times"/>
            </a:endParaRPr>
          </a:p>
          <a:p>
            <a:endParaRPr lang="en-US" sz="2000" b="1" dirty="0" smtClean="0">
              <a:latin typeface="Times"/>
            </a:endParaRPr>
          </a:p>
          <a:p>
            <a:r>
              <a:rPr lang="en-US" sz="2000" dirty="0" smtClean="0">
                <a:latin typeface="Times"/>
              </a:rPr>
              <a:t>                                              Fig 6: </a:t>
            </a:r>
            <a:r>
              <a:rPr lang="en-IN" sz="2000" dirty="0" smtClean="0">
                <a:latin typeface="Times"/>
              </a:rPr>
              <a:t>Quantum Circuit diagram of </a:t>
            </a:r>
            <a:r>
              <a:rPr lang="en-IN" sz="2000" dirty="0" smtClean="0">
                <a:latin typeface="Times"/>
              </a:rPr>
              <a:t>NEQR</a:t>
            </a:r>
          </a:p>
          <a:p>
            <a:endParaRPr lang="en-IN" sz="2000" dirty="0" smtClean="0">
              <a:latin typeface="Times"/>
            </a:endParaRPr>
          </a:p>
          <a:p>
            <a:pPr algn="just">
              <a:buFont typeface="Arial" pitchFamily="34" charset="0"/>
              <a:buChar char="•"/>
            </a:pPr>
            <a:r>
              <a:rPr lang="en-IN" sz="2000" dirty="0" smtClean="0">
                <a:latin typeface="Times"/>
              </a:rPr>
              <a:t>The input image is of size 64x64. So, the gray value </a:t>
            </a:r>
            <a:r>
              <a:rPr lang="en-IN" sz="2000" dirty="0" err="1" smtClean="0">
                <a:latin typeface="Times"/>
              </a:rPr>
              <a:t>qubits</a:t>
            </a:r>
            <a:r>
              <a:rPr lang="en-IN" sz="2000" dirty="0" smtClean="0">
                <a:latin typeface="Times"/>
              </a:rPr>
              <a:t> considered are 8 i.e., {g0, g1, g2, g3, g4, g5, g6, g7}.</a:t>
            </a:r>
          </a:p>
          <a:p>
            <a:pPr algn="just">
              <a:buFont typeface="Arial" pitchFamily="34" charset="0"/>
              <a:buChar char="•"/>
            </a:pPr>
            <a:r>
              <a:rPr lang="en-IN" sz="2000" dirty="0" smtClean="0">
                <a:latin typeface="Times"/>
              </a:rPr>
              <a:t>Position </a:t>
            </a:r>
            <a:r>
              <a:rPr lang="en-IN" sz="2000" dirty="0" err="1" smtClean="0">
                <a:latin typeface="Times"/>
              </a:rPr>
              <a:t>qubits</a:t>
            </a:r>
            <a:r>
              <a:rPr lang="en-IN" sz="2000" dirty="0" smtClean="0">
                <a:latin typeface="Times"/>
              </a:rPr>
              <a:t> considered are {row1, row2, </a:t>
            </a:r>
            <a:r>
              <a:rPr lang="en-IN" sz="2000" dirty="0" err="1" smtClean="0">
                <a:latin typeface="Times"/>
              </a:rPr>
              <a:t>e_row</a:t>
            </a:r>
            <a:r>
              <a:rPr lang="en-IN" sz="2000" dirty="0" smtClean="0">
                <a:latin typeface="Times"/>
              </a:rPr>
              <a:t>} and {col1, col2, </a:t>
            </a:r>
            <a:r>
              <a:rPr lang="en-IN" sz="2000" dirty="0" err="1" smtClean="0">
                <a:latin typeface="Times"/>
              </a:rPr>
              <a:t>e_col</a:t>
            </a:r>
            <a:r>
              <a:rPr lang="en-IN" sz="2000" dirty="0" smtClean="0">
                <a:latin typeface="Times"/>
              </a:rPr>
              <a:t>}.</a:t>
            </a:r>
          </a:p>
          <a:p>
            <a:pPr algn="just">
              <a:buFont typeface="Arial" pitchFamily="34" charset="0"/>
              <a:buChar char="•"/>
            </a:pPr>
            <a:r>
              <a:rPr lang="en-IN" sz="2000" dirty="0" smtClean="0">
                <a:latin typeface="Times"/>
              </a:rPr>
              <a:t> It is represented as </a:t>
            </a:r>
            <a:r>
              <a:rPr lang="en-IN" sz="2000" b="1" dirty="0" smtClean="0">
                <a:latin typeface="Times"/>
              </a:rPr>
              <a:t>|g7 g6 g5 g4 g3 g2 g1 g0⟩⊗∣</a:t>
            </a:r>
            <a:r>
              <a:rPr lang="en-IN" sz="2000" b="1" dirty="0" smtClean="0">
                <a:latin typeface="Times"/>
              </a:rPr>
              <a:t>row⟩⊗∣</a:t>
            </a:r>
            <a:r>
              <a:rPr lang="en-IN" sz="2000" b="1" dirty="0" err="1" smtClean="0">
                <a:latin typeface="Times"/>
              </a:rPr>
              <a:t>col</a:t>
            </a:r>
            <a:r>
              <a:rPr lang="en-IN" sz="2000" b="1" dirty="0" smtClean="0">
                <a:latin typeface="Times"/>
              </a:rPr>
              <a:t>⟩</a:t>
            </a:r>
            <a:endParaRPr lang="en-IN" sz="2000" dirty="0" smtClean="0">
              <a:latin typeface="Times"/>
            </a:endParaRPr>
          </a:p>
          <a:p>
            <a:pPr algn="just">
              <a:buFont typeface="Arial" pitchFamily="34" charset="0"/>
              <a:buChar char="•"/>
            </a:pPr>
            <a:r>
              <a:rPr lang="en-IN" sz="2000" dirty="0" smtClean="0">
                <a:latin typeface="Times"/>
              </a:rPr>
              <a:t>The output image is shown in fig 9.</a:t>
            </a:r>
            <a:endParaRPr lang="en-US" sz="2000" dirty="0" smtClean="0">
              <a:latin typeface="Times"/>
            </a:endParaRPr>
          </a:p>
        </p:txBody>
      </p:sp>
      <p:pic>
        <p:nvPicPr>
          <p:cNvPr id="3" name="Picture 2" descr="C:\Users\vighn\OneDrive\Desktop\onference paper_1\3_Programs\1_NEQR\NEQR_Circuit.png"/>
          <p:cNvPicPr/>
          <p:nvPr/>
        </p:nvPicPr>
        <p:blipFill>
          <a:blip r:embed="rId2" cstate="print"/>
          <a:srcRect/>
          <a:stretch>
            <a:fillRect/>
          </a:stretch>
        </p:blipFill>
        <p:spPr bwMode="auto">
          <a:xfrm>
            <a:off x="1568027" y="1488440"/>
            <a:ext cx="9035415" cy="2418295"/>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31333" y="812800"/>
            <a:ext cx="10329333" cy="5078313"/>
          </a:xfrm>
          <a:prstGeom prst="rect">
            <a:avLst/>
          </a:prstGeom>
          <a:noFill/>
        </p:spPr>
        <p:txBody>
          <a:bodyPr wrap="square" rtlCol="0">
            <a:spAutoFit/>
          </a:bodyPr>
          <a:lstStyle/>
          <a:p>
            <a:r>
              <a:rPr lang="en-US" sz="2400" b="1" dirty="0" smtClean="0">
                <a:latin typeface="Times"/>
              </a:rPr>
              <a:t>FRQI :</a:t>
            </a:r>
          </a:p>
          <a:p>
            <a:endParaRPr lang="en-US" sz="2400" b="1" dirty="0" smtClean="0">
              <a:latin typeface="Times"/>
            </a:endParaRPr>
          </a:p>
          <a:p>
            <a:endParaRPr lang="en-US" sz="2400" b="1" dirty="0" smtClean="0">
              <a:latin typeface="Times"/>
            </a:endParaRPr>
          </a:p>
          <a:p>
            <a:endParaRPr lang="en-US" sz="2400" b="1" dirty="0" smtClean="0">
              <a:latin typeface="Times"/>
            </a:endParaRPr>
          </a:p>
          <a:p>
            <a:endParaRPr lang="en-US" sz="2400" b="1" dirty="0" smtClean="0">
              <a:latin typeface="Times"/>
            </a:endParaRPr>
          </a:p>
          <a:p>
            <a:endParaRPr lang="en-US" sz="2400" b="1" dirty="0" smtClean="0">
              <a:latin typeface="Times"/>
            </a:endParaRPr>
          </a:p>
          <a:p>
            <a:endParaRPr lang="en-US" sz="2400" b="1" dirty="0" smtClean="0">
              <a:latin typeface="Times"/>
            </a:endParaRPr>
          </a:p>
          <a:p>
            <a:endParaRPr lang="en-US" sz="2400" b="1" dirty="0" smtClean="0">
              <a:latin typeface="Times"/>
            </a:endParaRPr>
          </a:p>
          <a:p>
            <a:endParaRPr lang="en-US" sz="2400" b="1" dirty="0" smtClean="0">
              <a:latin typeface="Times"/>
            </a:endParaRPr>
          </a:p>
          <a:p>
            <a:r>
              <a:rPr lang="en-US" sz="2000" dirty="0" smtClean="0">
                <a:latin typeface="Times"/>
              </a:rPr>
              <a:t>                                         Fig:7 </a:t>
            </a:r>
            <a:r>
              <a:rPr lang="en-US" sz="2000" dirty="0" err="1" smtClean="0">
                <a:latin typeface="Times"/>
              </a:rPr>
              <a:t>Qunatum</a:t>
            </a:r>
            <a:r>
              <a:rPr lang="en-US" sz="2000" dirty="0" smtClean="0">
                <a:latin typeface="Times"/>
              </a:rPr>
              <a:t> Circuit diagram of FRQI</a:t>
            </a:r>
          </a:p>
          <a:p>
            <a:endParaRPr lang="en-US" sz="2000" dirty="0" smtClean="0">
              <a:latin typeface="Times"/>
            </a:endParaRPr>
          </a:p>
          <a:p>
            <a:pPr>
              <a:buFont typeface="Arial" pitchFamily="34" charset="0"/>
              <a:buChar char="•"/>
            </a:pPr>
            <a:r>
              <a:rPr lang="en-US" sz="2000" dirty="0" smtClean="0">
                <a:latin typeface="Times" panose="02020603050405020304" pitchFamily="18" charset="0"/>
                <a:cs typeface="Times" panose="02020603050405020304" pitchFamily="18" charset="0"/>
              </a:rPr>
              <a:t>It is represented </a:t>
            </a:r>
            <a:r>
              <a:rPr lang="en-US" sz="2000" dirty="0" smtClean="0">
                <a:latin typeface="Times" panose="02020603050405020304" pitchFamily="18" charset="0"/>
                <a:cs typeface="Times" panose="02020603050405020304" pitchFamily="18" charset="0"/>
              </a:rPr>
              <a:t>as </a:t>
            </a:r>
            <a:r>
              <a:rPr lang="en-IN" sz="2000" dirty="0" smtClean="0">
                <a:latin typeface="Times" panose="02020603050405020304" pitchFamily="18" charset="0"/>
                <a:cs typeface="Times" panose="02020603050405020304" pitchFamily="18" charset="0"/>
              </a:rPr>
              <a:t>∣g⟩ </a:t>
            </a:r>
            <a:r>
              <a:rPr lang="en-IN" sz="2000" dirty="0" smtClean="0">
                <a:latin typeface="Times" panose="02020603050405020304" pitchFamily="18" charset="0"/>
                <a:cs typeface="Times" panose="02020603050405020304" pitchFamily="18" charset="0"/>
              </a:rPr>
              <a:t>⊗ ∣row⟩ ⊗ ∣</a:t>
            </a:r>
            <a:r>
              <a:rPr lang="en-IN" sz="2000" dirty="0" err="1" smtClean="0">
                <a:latin typeface="Times" panose="02020603050405020304" pitchFamily="18" charset="0"/>
                <a:cs typeface="Times" panose="02020603050405020304" pitchFamily="18" charset="0"/>
              </a:rPr>
              <a:t>col</a:t>
            </a:r>
            <a:r>
              <a:rPr lang="en-IN" sz="2000" dirty="0" smtClean="0">
                <a:latin typeface="Times" panose="02020603050405020304" pitchFamily="18" charset="0"/>
                <a:cs typeface="Times" panose="02020603050405020304" pitchFamily="18" charset="0"/>
              </a:rPr>
              <a:t>⟩</a:t>
            </a:r>
            <a:r>
              <a:rPr lang="en-US" sz="2000" dirty="0" smtClean="0">
                <a:latin typeface="Times"/>
              </a:rPr>
              <a:t> .</a:t>
            </a:r>
          </a:p>
          <a:p>
            <a:pPr>
              <a:buFont typeface="Arial" pitchFamily="34" charset="0"/>
              <a:buChar char="•"/>
            </a:pPr>
            <a:r>
              <a:rPr lang="en-US" sz="2000" dirty="0" smtClean="0">
                <a:latin typeface="Times"/>
              </a:rPr>
              <a:t>The output image is same as NEQR i.e., shown in fig 9. </a:t>
            </a:r>
            <a:endParaRPr lang="en-US" sz="2400" b="1" dirty="0" smtClean="0">
              <a:latin typeface="Times"/>
            </a:endParaRPr>
          </a:p>
          <a:p>
            <a:endParaRPr lang="en-US" sz="2400" b="1" dirty="0">
              <a:latin typeface="Times"/>
            </a:endParaRPr>
          </a:p>
        </p:txBody>
      </p:sp>
      <p:pic>
        <p:nvPicPr>
          <p:cNvPr id="3" name="Picture 2" descr="E:\conference_paper\Programs\NEQR,FRQI,MCQI\FRQI\FRQI\FRQI_Circuit.png"/>
          <p:cNvPicPr/>
          <p:nvPr/>
        </p:nvPicPr>
        <p:blipFill>
          <a:blip r:embed="rId2" cstate="print"/>
          <a:srcRect/>
          <a:stretch>
            <a:fillRect/>
          </a:stretch>
        </p:blipFill>
        <p:spPr bwMode="auto">
          <a:xfrm>
            <a:off x="1159933" y="1324783"/>
            <a:ext cx="9762067" cy="2730749"/>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13933" y="1320800"/>
            <a:ext cx="9499600" cy="4401205"/>
          </a:xfrm>
          <a:prstGeom prst="rect">
            <a:avLst/>
          </a:prstGeom>
          <a:noFill/>
        </p:spPr>
        <p:txBody>
          <a:bodyPr wrap="square" rtlCol="0">
            <a:spAutoFit/>
          </a:bodyPr>
          <a:lstStyle/>
          <a:p>
            <a:r>
              <a:rPr lang="en-US" sz="2400" b="1" dirty="0" smtClean="0"/>
              <a:t>MCQI :</a:t>
            </a:r>
          </a:p>
          <a:p>
            <a:endParaRPr lang="en-US" sz="2400" b="1" dirty="0" smtClean="0"/>
          </a:p>
          <a:p>
            <a:endParaRPr lang="en-US" sz="2400" b="1" dirty="0" smtClean="0"/>
          </a:p>
          <a:p>
            <a:endParaRPr lang="en-US" sz="2400" b="1" dirty="0" smtClean="0"/>
          </a:p>
          <a:p>
            <a:endParaRPr lang="en-US" sz="2400" b="1" dirty="0" smtClean="0"/>
          </a:p>
          <a:p>
            <a:endParaRPr lang="en-US" sz="2400" b="1" dirty="0" smtClean="0"/>
          </a:p>
          <a:p>
            <a:endParaRPr lang="en-US" sz="2400" b="1" dirty="0" smtClean="0"/>
          </a:p>
          <a:p>
            <a:endParaRPr lang="en-US" sz="2400" b="1" dirty="0" smtClean="0"/>
          </a:p>
          <a:p>
            <a:r>
              <a:rPr lang="en-US" sz="2400" dirty="0" smtClean="0"/>
              <a:t>                           </a:t>
            </a:r>
            <a:r>
              <a:rPr lang="en-US" sz="2000" dirty="0" smtClean="0"/>
              <a:t>Fig:8 Quantum circuit diagram of MCQI</a:t>
            </a:r>
          </a:p>
          <a:p>
            <a:pPr>
              <a:buFont typeface="Arial" pitchFamily="34" charset="0"/>
              <a:buChar char="•"/>
            </a:pPr>
            <a:r>
              <a:rPr lang="en-US" sz="2000" dirty="0" smtClean="0">
                <a:latin typeface="Times" panose="02020603050405020304" pitchFamily="18" charset="0"/>
                <a:cs typeface="Times" panose="02020603050405020304" pitchFamily="18" charset="0"/>
              </a:rPr>
              <a:t>It is represented as </a:t>
            </a:r>
            <a:r>
              <a:rPr lang="en-IN" sz="2000" dirty="0" smtClean="0">
                <a:latin typeface="Times" panose="02020603050405020304" pitchFamily="18" charset="0"/>
                <a:cs typeface="Times" panose="02020603050405020304" pitchFamily="18" charset="0"/>
              </a:rPr>
              <a:t> ∣R⟩∣G⟩∣B⟩ ⊗ ∣row⟩ ⊗ ∣</a:t>
            </a:r>
            <a:r>
              <a:rPr lang="en-IN" sz="2000" dirty="0" err="1" smtClean="0">
                <a:latin typeface="Times" panose="02020603050405020304" pitchFamily="18" charset="0"/>
                <a:cs typeface="Times" panose="02020603050405020304" pitchFamily="18" charset="0"/>
              </a:rPr>
              <a:t>col</a:t>
            </a:r>
            <a:r>
              <a:rPr lang="en-IN" sz="2000" dirty="0" smtClean="0">
                <a:latin typeface="Times" panose="02020603050405020304" pitchFamily="18" charset="0"/>
                <a:cs typeface="Times" panose="02020603050405020304" pitchFamily="18" charset="0"/>
              </a:rPr>
              <a:t>⟩</a:t>
            </a:r>
            <a:r>
              <a:rPr lang="en-US" sz="2000" dirty="0" smtClean="0">
                <a:latin typeface="Times"/>
              </a:rPr>
              <a:t> .</a:t>
            </a:r>
          </a:p>
          <a:p>
            <a:pPr>
              <a:buFont typeface="Arial" pitchFamily="34" charset="0"/>
              <a:buChar char="•"/>
            </a:pPr>
            <a:r>
              <a:rPr lang="en-US" sz="2000" dirty="0" smtClean="0">
                <a:latin typeface="Times"/>
              </a:rPr>
              <a:t>The output image is same as </a:t>
            </a:r>
            <a:r>
              <a:rPr lang="en-US" sz="2000" dirty="0" smtClean="0">
                <a:latin typeface="Times"/>
              </a:rPr>
              <a:t>NEQR and FRQI </a:t>
            </a:r>
            <a:r>
              <a:rPr lang="en-US" sz="2000" dirty="0" smtClean="0">
                <a:latin typeface="Times"/>
              </a:rPr>
              <a:t>i.e., shown in fig 9.</a:t>
            </a:r>
            <a:endParaRPr lang="en-US" sz="2000" dirty="0" smtClean="0"/>
          </a:p>
          <a:p>
            <a:endParaRPr lang="en-US" sz="2400" b="1" dirty="0"/>
          </a:p>
        </p:txBody>
      </p:sp>
      <p:pic>
        <p:nvPicPr>
          <p:cNvPr id="3" name="Picture 2" descr="E:\conference_paper\Programs\NEQR,FRQI,MCQI\MCQI\MCQI_Circuit.png"/>
          <p:cNvPicPr/>
          <p:nvPr/>
        </p:nvPicPr>
        <p:blipFill>
          <a:blip r:embed="rId2" cstate="print"/>
          <a:srcRect/>
          <a:stretch>
            <a:fillRect/>
          </a:stretch>
        </p:blipFill>
        <p:spPr bwMode="auto">
          <a:xfrm>
            <a:off x="1557866" y="1820333"/>
            <a:ext cx="9135533" cy="2444706"/>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17600" y="1049867"/>
            <a:ext cx="9990667" cy="4708981"/>
          </a:xfrm>
          <a:prstGeom prst="rect">
            <a:avLst/>
          </a:prstGeom>
          <a:noFill/>
        </p:spPr>
        <p:txBody>
          <a:bodyPr wrap="square" rtlCol="0">
            <a:spAutoFit/>
          </a:bodyPr>
          <a:lstStyle/>
          <a:p>
            <a:r>
              <a:rPr lang="en-US" sz="2400" b="1" dirty="0" smtClean="0"/>
              <a:t>Output of .</a:t>
            </a:r>
            <a:r>
              <a:rPr lang="en-US" sz="2400" b="1" dirty="0" err="1" smtClean="0"/>
              <a:t>tif</a:t>
            </a:r>
            <a:r>
              <a:rPr lang="en-US" sz="2400" b="1" dirty="0" smtClean="0"/>
              <a:t> image :</a:t>
            </a:r>
          </a:p>
          <a:p>
            <a:endParaRPr lang="en-US" sz="2400" b="1" dirty="0" smtClean="0"/>
          </a:p>
          <a:p>
            <a:endParaRPr lang="en-US" sz="2400" b="1" dirty="0" smtClean="0"/>
          </a:p>
          <a:p>
            <a:endParaRPr lang="en-US" sz="2400" b="1" dirty="0" smtClean="0"/>
          </a:p>
          <a:p>
            <a:endParaRPr lang="en-US" sz="2400" b="1" dirty="0" smtClean="0"/>
          </a:p>
          <a:p>
            <a:endParaRPr lang="en-US" sz="2400" b="1" dirty="0" smtClean="0"/>
          </a:p>
          <a:p>
            <a:endParaRPr lang="en-US" sz="2400" b="1" dirty="0" smtClean="0"/>
          </a:p>
          <a:p>
            <a:endParaRPr lang="en-US" sz="2400" b="1" dirty="0" smtClean="0"/>
          </a:p>
          <a:p>
            <a:pPr algn="just"/>
            <a:r>
              <a:rPr lang="en-US" sz="2000" dirty="0" smtClean="0"/>
              <a:t>    Fig: 9 </a:t>
            </a:r>
            <a:r>
              <a:rPr lang="en-IN" sz="2000" dirty="0" smtClean="0">
                <a:latin typeface="Times" panose="02020603050405020304" pitchFamily="18" charset="0"/>
                <a:cs typeface="Times" panose="02020603050405020304" pitchFamily="18" charset="0"/>
              </a:rPr>
              <a:t>Output Images for Zoomed, Horizontal Stretching, Vertical Stretching and image </a:t>
            </a:r>
            <a:r>
              <a:rPr lang="en-IN" sz="2000" dirty="0" smtClean="0">
                <a:latin typeface="Times" panose="02020603050405020304" pitchFamily="18" charset="0"/>
                <a:cs typeface="Times" panose="02020603050405020304" pitchFamily="18" charset="0"/>
              </a:rPr>
              <a:t>         replication</a:t>
            </a:r>
          </a:p>
          <a:p>
            <a:pPr algn="just"/>
            <a:endParaRPr lang="en-IN" sz="2000" dirty="0" smtClean="0">
              <a:latin typeface="Times" panose="02020603050405020304" pitchFamily="18" charset="0"/>
            </a:endParaRPr>
          </a:p>
          <a:p>
            <a:pPr algn="just">
              <a:buFont typeface="Arial" pitchFamily="34" charset="0"/>
              <a:buChar char="•"/>
            </a:pPr>
            <a:r>
              <a:rPr lang="en-IN" sz="2000" dirty="0" smtClean="0">
                <a:latin typeface="Times" panose="02020603050405020304" pitchFamily="18" charset="0"/>
              </a:rPr>
              <a:t>This Output of .</a:t>
            </a:r>
            <a:r>
              <a:rPr lang="en-IN" sz="2000" dirty="0" err="1" smtClean="0">
                <a:latin typeface="Times" panose="02020603050405020304" pitchFamily="18" charset="0"/>
              </a:rPr>
              <a:t>tif</a:t>
            </a:r>
            <a:r>
              <a:rPr lang="en-IN" sz="2000" dirty="0" smtClean="0">
                <a:latin typeface="Times" panose="02020603050405020304" pitchFamily="18" charset="0"/>
              </a:rPr>
              <a:t> image obtained is same for NEQR, FRQI and MCQI.</a:t>
            </a:r>
            <a:endParaRPr lang="en-US" sz="2400" b="1" dirty="0" smtClean="0"/>
          </a:p>
          <a:p>
            <a:endParaRPr lang="en-US" sz="2400" b="1" dirty="0"/>
          </a:p>
        </p:txBody>
      </p:sp>
      <p:pic>
        <p:nvPicPr>
          <p:cNvPr id="3" name="Picture 2" descr="MCQI_AllResults.png"/>
          <p:cNvPicPr/>
          <p:nvPr/>
        </p:nvPicPr>
        <p:blipFill>
          <a:blip r:embed="rId2"/>
          <a:stretch>
            <a:fillRect/>
          </a:stretch>
        </p:blipFill>
        <p:spPr>
          <a:xfrm>
            <a:off x="1405467" y="1574800"/>
            <a:ext cx="9499600" cy="249174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004733" y="916608"/>
            <a:ext cx="2760869" cy="461665"/>
          </a:xfrm>
          <a:prstGeom prst="rect">
            <a:avLst/>
          </a:prstGeom>
          <a:noFill/>
        </p:spPr>
        <p:txBody>
          <a:bodyPr wrap="square" rtlCol="0">
            <a:spAutoFit/>
          </a:bodyPr>
          <a:lstStyle/>
          <a:p>
            <a:r>
              <a:rPr lang="en-US" sz="2400" b="1" dirty="0" smtClean="0">
                <a:latin typeface="Times New Roman" panose="02020603050405020304" pitchFamily="18" charset="0"/>
                <a:cs typeface="Times New Roman" panose="02020603050405020304" pitchFamily="18" charset="0"/>
              </a:rPr>
              <a:t>      CONCLUSION</a:t>
            </a:r>
            <a:r>
              <a:rPr lang="en-US" sz="2400" b="1" dirty="0" smtClean="0"/>
              <a:t> </a:t>
            </a:r>
            <a:endParaRPr lang="en-IN" sz="2400" b="1" dirty="0"/>
          </a:p>
        </p:txBody>
      </p:sp>
      <p:sp>
        <p:nvSpPr>
          <p:cNvPr id="4" name="TextBox 3"/>
          <p:cNvSpPr txBox="1"/>
          <p:nvPr/>
        </p:nvSpPr>
        <p:spPr>
          <a:xfrm>
            <a:off x="1473937" y="1768429"/>
            <a:ext cx="9050866" cy="3447098"/>
          </a:xfrm>
          <a:prstGeom prst="rect">
            <a:avLst/>
          </a:prstGeom>
          <a:noFill/>
        </p:spPr>
        <p:txBody>
          <a:bodyPr wrap="square" rtlCol="0">
            <a:spAutoFit/>
          </a:bodyPr>
          <a:lstStyle/>
          <a:p>
            <a:pPr marL="342900" indent="-342900" algn="just">
              <a:buFont typeface="Arial" panose="020B0604020202020204" pitchFamily="34" charset="0"/>
              <a:buChar char="•"/>
            </a:pPr>
            <a:r>
              <a:rPr lang="en-IN" sz="2000" dirty="0">
                <a:latin typeface="Times" panose="02020603050405020304" pitchFamily="18" charset="0"/>
                <a:cs typeface="Times" panose="02020603050405020304" pitchFamily="18" charset="0"/>
              </a:rPr>
              <a:t>This work proposed a quantum image interpolation method for scaling low-resolution grayscale and </a:t>
            </a:r>
            <a:r>
              <a:rPr lang="en-IN" sz="2000" dirty="0" err="1">
                <a:latin typeface="Times" panose="02020603050405020304" pitchFamily="18" charset="0"/>
                <a:cs typeface="Times" panose="02020603050405020304" pitchFamily="18" charset="0"/>
              </a:rPr>
              <a:t>color</a:t>
            </a:r>
            <a:r>
              <a:rPr lang="en-IN" sz="2000" dirty="0">
                <a:latin typeface="Times" panose="02020603050405020304" pitchFamily="18" charset="0"/>
                <a:cs typeface="Times" panose="02020603050405020304" pitchFamily="18" charset="0"/>
              </a:rPr>
              <a:t> images using FRQI, NEQR, and MCQI representations. </a:t>
            </a:r>
            <a:endParaRPr lang="en-IN" sz="2000" dirty="0" smtClean="0">
              <a:latin typeface="Times" panose="02020603050405020304" pitchFamily="18" charset="0"/>
              <a:cs typeface="Times" panose="02020603050405020304" pitchFamily="18" charset="0"/>
            </a:endParaRPr>
          </a:p>
          <a:p>
            <a:pPr marL="342900" indent="-342900" algn="just">
              <a:buFont typeface="Arial" panose="020B0604020202020204" pitchFamily="34" charset="0"/>
              <a:buChar char="•"/>
            </a:pPr>
            <a:r>
              <a:rPr lang="en-IN" sz="2000" dirty="0" smtClean="0">
                <a:latin typeface="Times" panose="02020603050405020304" pitchFamily="18" charset="0"/>
                <a:cs typeface="Times" panose="02020603050405020304" pitchFamily="18" charset="0"/>
              </a:rPr>
              <a:t>The </a:t>
            </a:r>
            <a:r>
              <a:rPr lang="en-IN" sz="2000" dirty="0">
                <a:latin typeface="Times" panose="02020603050405020304" pitchFamily="18" charset="0"/>
                <a:cs typeface="Times" panose="02020603050405020304" pitchFamily="18" charset="0"/>
              </a:rPr>
              <a:t>results shows that quantum circuits can effectively upscale images while preserving image quality. </a:t>
            </a:r>
            <a:endParaRPr lang="en-IN" sz="2000" dirty="0" smtClean="0">
              <a:latin typeface="Times" panose="02020603050405020304" pitchFamily="18" charset="0"/>
              <a:cs typeface="Times" panose="02020603050405020304" pitchFamily="18" charset="0"/>
            </a:endParaRPr>
          </a:p>
          <a:p>
            <a:pPr marL="342900" indent="-342900" algn="just">
              <a:buFont typeface="Arial" panose="020B0604020202020204" pitchFamily="34" charset="0"/>
              <a:buChar char="•"/>
            </a:pPr>
            <a:r>
              <a:rPr lang="en-IN" sz="2000" dirty="0" smtClean="0">
                <a:latin typeface="Times" panose="02020603050405020304" pitchFamily="18" charset="0"/>
                <a:cs typeface="Times" panose="02020603050405020304" pitchFamily="18" charset="0"/>
              </a:rPr>
              <a:t>By </a:t>
            </a:r>
            <a:r>
              <a:rPr lang="en-IN" sz="2000" dirty="0">
                <a:latin typeface="Times" panose="02020603050405020304" pitchFamily="18" charset="0"/>
                <a:cs typeface="Times" panose="02020603050405020304" pitchFamily="18" charset="0"/>
              </a:rPr>
              <a:t>applying quantum gates to position qubits, various image transformations such as image replication, horizontal stretching, image zooming, and vertical stretching were successfully achieved. </a:t>
            </a:r>
            <a:endParaRPr lang="en-IN" sz="2000" dirty="0" smtClean="0">
              <a:latin typeface="Times" panose="02020603050405020304" pitchFamily="18" charset="0"/>
              <a:cs typeface="Times" panose="02020603050405020304" pitchFamily="18" charset="0"/>
            </a:endParaRPr>
          </a:p>
          <a:p>
            <a:pPr marL="342900" indent="-342900" algn="just">
              <a:buFont typeface="Arial" panose="020B0604020202020204" pitchFamily="34" charset="0"/>
              <a:buChar char="•"/>
            </a:pPr>
            <a:r>
              <a:rPr lang="en-IN" sz="2000" dirty="0" smtClean="0">
                <a:latin typeface="Times" panose="02020603050405020304" pitchFamily="18" charset="0"/>
                <a:cs typeface="Times" panose="02020603050405020304" pitchFamily="18" charset="0"/>
              </a:rPr>
              <a:t>The </a:t>
            </a:r>
            <a:r>
              <a:rPr lang="en-IN" sz="2000" dirty="0">
                <a:latin typeface="Times" panose="02020603050405020304" pitchFamily="18" charset="0"/>
                <a:cs typeface="Times" panose="02020603050405020304" pitchFamily="18" charset="0"/>
              </a:rPr>
              <a:t>study demonstrates the potential of quantum image processing for efficient image enhancement and geometric transformations.</a:t>
            </a:r>
          </a:p>
          <a:p>
            <a:pPr algn="just"/>
            <a:endParaRPr lang="en-IN" dirty="0"/>
          </a:p>
        </p:txBody>
      </p:sp>
    </p:spTree>
    <p:extLst>
      <p:ext uri="{BB962C8B-B14F-4D97-AF65-F5344CB8AC3E}">
        <p14:creationId xmlns="" xmlns:p14="http://schemas.microsoft.com/office/powerpoint/2010/main" val="7339607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0" y="725557"/>
            <a:ext cx="2504661" cy="461665"/>
          </a:xfrm>
          <a:prstGeom prst="rect">
            <a:avLst/>
          </a:prstGeom>
          <a:noFill/>
        </p:spPr>
        <p:txBody>
          <a:bodyPr wrap="square" rtlCol="0">
            <a:spAutoFit/>
          </a:bodyPr>
          <a:lstStyle/>
          <a:p>
            <a:r>
              <a:rPr lang="en-US" sz="2400" b="1" dirty="0" smtClean="0">
                <a:latin typeface="Times" panose="02020603050405020304" pitchFamily="18" charset="0"/>
                <a:cs typeface="Times" panose="02020603050405020304" pitchFamily="18" charset="0"/>
              </a:rPr>
              <a:t>REFERENCES</a:t>
            </a:r>
            <a:endParaRPr lang="en-IN" sz="2400" b="1" dirty="0">
              <a:latin typeface="Times" panose="02020603050405020304" pitchFamily="18" charset="0"/>
              <a:cs typeface="Times" panose="02020603050405020304" pitchFamily="18" charset="0"/>
            </a:endParaRPr>
          </a:p>
        </p:txBody>
      </p:sp>
      <p:sp>
        <p:nvSpPr>
          <p:cNvPr id="3" name="TextBox 2"/>
          <p:cNvSpPr txBox="1"/>
          <p:nvPr/>
        </p:nvSpPr>
        <p:spPr>
          <a:xfrm>
            <a:off x="1292087" y="1361661"/>
            <a:ext cx="9700592" cy="4801314"/>
          </a:xfrm>
          <a:prstGeom prst="rect">
            <a:avLst/>
          </a:prstGeom>
          <a:noFill/>
        </p:spPr>
        <p:txBody>
          <a:bodyPr wrap="square" rtlCol="0">
            <a:spAutoFit/>
          </a:bodyPr>
          <a:lstStyle/>
          <a:p>
            <a:pPr algn="just"/>
            <a:r>
              <a:rPr lang="en-IN" dirty="0" smtClean="0">
                <a:latin typeface="Times" panose="02020603050405020304" pitchFamily="18" charset="0"/>
                <a:cs typeface="Times" panose="02020603050405020304" pitchFamily="18" charset="0"/>
              </a:rPr>
              <a:t>1. </a:t>
            </a:r>
            <a:r>
              <a:rPr lang="en-IN" dirty="0">
                <a:latin typeface="Times" panose="02020603050405020304" pitchFamily="18" charset="0"/>
                <a:cs typeface="Times" panose="02020603050405020304" pitchFamily="18" charset="0"/>
              </a:rPr>
              <a:t>M. A. Nielsen and I. L. Chuang, Quantum Computation and Quantum In-formation, 10th Anniversary ed. Cambridge, U.K.: Cambridge University Press, 2010</a:t>
            </a:r>
            <a:r>
              <a:rPr lang="en-IN" dirty="0" smtClean="0">
                <a:latin typeface="Times" panose="02020603050405020304" pitchFamily="18" charset="0"/>
                <a:cs typeface="Times" panose="02020603050405020304" pitchFamily="18" charset="0"/>
              </a:rPr>
              <a:t>.</a:t>
            </a:r>
          </a:p>
          <a:p>
            <a:pPr algn="just"/>
            <a:endParaRPr lang="en-IN" dirty="0">
              <a:latin typeface="Times" panose="02020603050405020304" pitchFamily="18" charset="0"/>
              <a:cs typeface="Times" panose="02020603050405020304" pitchFamily="18" charset="0"/>
            </a:endParaRPr>
          </a:p>
          <a:p>
            <a:pPr algn="just"/>
            <a:r>
              <a:rPr lang="en-IN" dirty="0" smtClean="0">
                <a:latin typeface="Times" panose="02020603050405020304" pitchFamily="18" charset="0"/>
                <a:cs typeface="Times" panose="02020603050405020304" pitchFamily="18" charset="0"/>
              </a:rPr>
              <a:t>2. P</a:t>
            </a:r>
            <a:r>
              <a:rPr lang="en-IN" dirty="0">
                <a:latin typeface="Times" panose="02020603050405020304" pitchFamily="18" charset="0"/>
                <a:cs typeface="Times" panose="02020603050405020304" pitchFamily="18" charset="0"/>
              </a:rPr>
              <a:t>. Kaye, R. </a:t>
            </a:r>
            <a:r>
              <a:rPr lang="en-IN" dirty="0" err="1">
                <a:latin typeface="Times" panose="02020603050405020304" pitchFamily="18" charset="0"/>
                <a:cs typeface="Times" panose="02020603050405020304" pitchFamily="18" charset="0"/>
              </a:rPr>
              <a:t>Laflamme</a:t>
            </a:r>
            <a:r>
              <a:rPr lang="en-IN" dirty="0">
                <a:latin typeface="Times" panose="02020603050405020304" pitchFamily="18" charset="0"/>
                <a:cs typeface="Times" panose="02020603050405020304" pitchFamily="18" charset="0"/>
              </a:rPr>
              <a:t>, and M. </a:t>
            </a:r>
            <a:r>
              <a:rPr lang="en-IN" dirty="0" err="1">
                <a:latin typeface="Times" panose="02020603050405020304" pitchFamily="18" charset="0"/>
                <a:cs typeface="Times" panose="02020603050405020304" pitchFamily="18" charset="0"/>
              </a:rPr>
              <a:t>Mosca</a:t>
            </a:r>
            <a:r>
              <a:rPr lang="en-IN" dirty="0">
                <a:latin typeface="Times" panose="02020603050405020304" pitchFamily="18" charset="0"/>
                <a:cs typeface="Times" panose="02020603050405020304" pitchFamily="18" charset="0"/>
              </a:rPr>
              <a:t>, An Introduction to Quantum </a:t>
            </a:r>
            <a:r>
              <a:rPr lang="en-IN" dirty="0" err="1">
                <a:latin typeface="Times" panose="02020603050405020304" pitchFamily="18" charset="0"/>
                <a:cs typeface="Times" panose="02020603050405020304" pitchFamily="18" charset="0"/>
              </a:rPr>
              <a:t>Compu</a:t>
            </a:r>
            <a:r>
              <a:rPr lang="en-IN" dirty="0">
                <a:latin typeface="Times" panose="02020603050405020304" pitchFamily="18" charset="0"/>
                <a:cs typeface="Times" panose="02020603050405020304" pitchFamily="18" charset="0"/>
              </a:rPr>
              <a:t>-ting. Oxford, U.K.: Oxford University Press, 2007</a:t>
            </a:r>
            <a:r>
              <a:rPr lang="en-IN" dirty="0" smtClean="0">
                <a:latin typeface="Times" panose="02020603050405020304" pitchFamily="18" charset="0"/>
                <a:cs typeface="Times" panose="02020603050405020304" pitchFamily="18" charset="0"/>
              </a:rPr>
              <a:t>.</a:t>
            </a:r>
          </a:p>
          <a:p>
            <a:pPr algn="just"/>
            <a:endParaRPr lang="en-IN" dirty="0" smtClean="0">
              <a:latin typeface="Times" panose="02020603050405020304" pitchFamily="18" charset="0"/>
              <a:cs typeface="Times" panose="02020603050405020304" pitchFamily="18" charset="0"/>
            </a:endParaRPr>
          </a:p>
          <a:p>
            <a:pPr algn="just"/>
            <a:r>
              <a:rPr lang="en-IN" dirty="0" smtClean="0">
                <a:latin typeface="Times" panose="02020603050405020304" pitchFamily="18" charset="0"/>
                <a:cs typeface="Times" panose="02020603050405020304" pitchFamily="18" charset="0"/>
              </a:rPr>
              <a:t>3. F</a:t>
            </a:r>
            <a:r>
              <a:rPr lang="en-IN" dirty="0">
                <a:latin typeface="Times" panose="02020603050405020304" pitchFamily="18" charset="0"/>
                <a:cs typeface="Times" panose="02020603050405020304" pitchFamily="18" charset="0"/>
              </a:rPr>
              <a:t>. Yan and S. E. Venegas-</a:t>
            </a:r>
            <a:r>
              <a:rPr lang="en-IN" dirty="0" err="1">
                <a:latin typeface="Times" panose="02020603050405020304" pitchFamily="18" charset="0"/>
                <a:cs typeface="Times" panose="02020603050405020304" pitchFamily="18" charset="0"/>
              </a:rPr>
              <a:t>Andraca</a:t>
            </a:r>
            <a:r>
              <a:rPr lang="en-IN" dirty="0">
                <a:latin typeface="Times" panose="02020603050405020304" pitchFamily="18" charset="0"/>
                <a:cs typeface="Times" panose="02020603050405020304" pitchFamily="18" charset="0"/>
              </a:rPr>
              <a:t>, Quantum Image Processing. Singapore: Springer Nature Singapore Pte Ltd., 2020</a:t>
            </a:r>
            <a:r>
              <a:rPr lang="en-IN" dirty="0" smtClean="0">
                <a:latin typeface="Times" panose="02020603050405020304" pitchFamily="18" charset="0"/>
                <a:cs typeface="Times" panose="02020603050405020304" pitchFamily="18" charset="0"/>
              </a:rPr>
              <a:t>.</a:t>
            </a:r>
          </a:p>
          <a:p>
            <a:pPr algn="just"/>
            <a:endParaRPr lang="en-IN" dirty="0">
              <a:latin typeface="Times" panose="02020603050405020304" pitchFamily="18" charset="0"/>
              <a:cs typeface="Times" panose="02020603050405020304" pitchFamily="18" charset="0"/>
            </a:endParaRPr>
          </a:p>
          <a:p>
            <a:pPr algn="just"/>
            <a:r>
              <a:rPr lang="en-IN" dirty="0" smtClean="0">
                <a:latin typeface="Times" panose="02020603050405020304" pitchFamily="18" charset="0"/>
                <a:cs typeface="Times" panose="02020603050405020304" pitchFamily="18" charset="0"/>
              </a:rPr>
              <a:t> 4. A</a:t>
            </a:r>
            <a:r>
              <a:rPr lang="en-IN" dirty="0">
                <a:latin typeface="Times" panose="02020603050405020304" pitchFamily="18" charset="0"/>
                <a:cs typeface="Times" panose="02020603050405020304" pitchFamily="18" charset="0"/>
              </a:rPr>
              <a:t>. I. </a:t>
            </a:r>
            <a:r>
              <a:rPr lang="en-IN" dirty="0" err="1">
                <a:latin typeface="Times" panose="02020603050405020304" pitchFamily="18" charset="0"/>
                <a:cs typeface="Times" panose="02020603050405020304" pitchFamily="18" charset="0"/>
              </a:rPr>
              <a:t>Mihovska</a:t>
            </a:r>
            <a:r>
              <a:rPr lang="en-IN" dirty="0">
                <a:latin typeface="Times" panose="02020603050405020304" pitchFamily="18" charset="0"/>
                <a:cs typeface="Times" panose="02020603050405020304" pitchFamily="18" charset="0"/>
              </a:rPr>
              <a:t> and S. E. Venegas-</a:t>
            </a:r>
            <a:r>
              <a:rPr lang="en-IN" dirty="0" err="1">
                <a:latin typeface="Times" panose="02020603050405020304" pitchFamily="18" charset="0"/>
                <a:cs typeface="Times" panose="02020603050405020304" pitchFamily="18" charset="0"/>
              </a:rPr>
              <a:t>Andraca</a:t>
            </a:r>
            <a:r>
              <a:rPr lang="en-IN" dirty="0">
                <a:latin typeface="Times" panose="02020603050405020304" pitchFamily="18" charset="0"/>
                <a:cs typeface="Times" panose="02020603050405020304" pitchFamily="18" charset="0"/>
              </a:rPr>
              <a:t>, Quantum Image Processing in Practice. Hoboken, NJ, USA: John Wiley &amp; Sons, 2024</a:t>
            </a:r>
            <a:r>
              <a:rPr lang="en-IN" dirty="0" smtClean="0">
                <a:latin typeface="Times" panose="02020603050405020304" pitchFamily="18" charset="0"/>
                <a:cs typeface="Times" panose="02020603050405020304" pitchFamily="18" charset="0"/>
              </a:rPr>
              <a:t>.</a:t>
            </a:r>
          </a:p>
          <a:p>
            <a:pPr algn="just"/>
            <a:endParaRPr lang="en-IN" dirty="0">
              <a:latin typeface="Times" panose="02020603050405020304" pitchFamily="18" charset="0"/>
              <a:cs typeface="Times" panose="02020603050405020304" pitchFamily="18" charset="0"/>
            </a:endParaRPr>
          </a:p>
          <a:p>
            <a:pPr algn="just"/>
            <a:r>
              <a:rPr lang="en-IN" dirty="0" smtClean="0">
                <a:latin typeface="Times" panose="02020603050405020304" pitchFamily="18" charset="0"/>
                <a:cs typeface="Times" panose="02020603050405020304" pitchFamily="18" charset="0"/>
              </a:rPr>
              <a:t>5. R</a:t>
            </a:r>
            <a:r>
              <a:rPr lang="en-IN" dirty="0">
                <a:latin typeface="Times" panose="02020603050405020304" pitchFamily="18" charset="0"/>
                <a:cs typeface="Times" panose="02020603050405020304" pitchFamily="18" charset="0"/>
              </a:rPr>
              <a:t>. C. Gonzalez and R. E. Woods, Digital Image Processing, 3rd ed. Upper Saddle River, NJ, USA: Pearson Prentice Hall, 2008</a:t>
            </a:r>
            <a:r>
              <a:rPr lang="en-IN" dirty="0" smtClean="0">
                <a:latin typeface="Times" panose="02020603050405020304" pitchFamily="18" charset="0"/>
                <a:cs typeface="Times" panose="02020603050405020304" pitchFamily="18" charset="0"/>
              </a:rPr>
              <a:t>.</a:t>
            </a:r>
          </a:p>
          <a:p>
            <a:pPr algn="just"/>
            <a:endParaRPr lang="en-IN" dirty="0">
              <a:latin typeface="Times" panose="02020603050405020304" pitchFamily="18" charset="0"/>
              <a:cs typeface="Times" panose="02020603050405020304" pitchFamily="18" charset="0"/>
            </a:endParaRPr>
          </a:p>
          <a:p>
            <a:pPr algn="just"/>
            <a:r>
              <a:rPr lang="en-IN" dirty="0" smtClean="0">
                <a:latin typeface="Times" panose="02020603050405020304" pitchFamily="18" charset="0"/>
                <a:cs typeface="Times" panose="02020603050405020304" pitchFamily="18" charset="0"/>
              </a:rPr>
              <a:t>6. M</a:t>
            </a:r>
            <a:r>
              <a:rPr lang="en-IN" dirty="0">
                <a:latin typeface="Times" panose="02020603050405020304" pitchFamily="18" charset="0"/>
                <a:cs typeface="Times" panose="02020603050405020304" pitchFamily="18" charset="0"/>
              </a:rPr>
              <a:t>. </a:t>
            </a:r>
            <a:r>
              <a:rPr lang="en-IN" dirty="0" err="1">
                <a:latin typeface="Times" panose="02020603050405020304" pitchFamily="18" charset="0"/>
                <a:cs typeface="Times" panose="02020603050405020304" pitchFamily="18" charset="0"/>
              </a:rPr>
              <a:t>Sonka</a:t>
            </a:r>
            <a:r>
              <a:rPr lang="en-IN" dirty="0">
                <a:latin typeface="Times" panose="02020603050405020304" pitchFamily="18" charset="0"/>
                <a:cs typeface="Times" panose="02020603050405020304" pitchFamily="18" charset="0"/>
              </a:rPr>
              <a:t>, V. </a:t>
            </a:r>
            <a:r>
              <a:rPr lang="en-IN" dirty="0" err="1">
                <a:latin typeface="Times" panose="02020603050405020304" pitchFamily="18" charset="0"/>
                <a:cs typeface="Times" panose="02020603050405020304" pitchFamily="18" charset="0"/>
              </a:rPr>
              <a:t>Hlavac</a:t>
            </a:r>
            <a:r>
              <a:rPr lang="en-IN" dirty="0">
                <a:latin typeface="Times" panose="02020603050405020304" pitchFamily="18" charset="0"/>
                <a:cs typeface="Times" panose="02020603050405020304" pitchFamily="18" charset="0"/>
              </a:rPr>
              <a:t>, and R. Boyle, Digital Image Processing and </a:t>
            </a:r>
            <a:r>
              <a:rPr lang="en-IN" dirty="0" err="1">
                <a:latin typeface="Times" panose="02020603050405020304" pitchFamily="18" charset="0"/>
                <a:cs typeface="Times" panose="02020603050405020304" pitchFamily="18" charset="0"/>
              </a:rPr>
              <a:t>Comput-er</a:t>
            </a:r>
            <a:r>
              <a:rPr lang="en-IN" dirty="0">
                <a:latin typeface="Times" panose="02020603050405020304" pitchFamily="18" charset="0"/>
                <a:cs typeface="Times" panose="02020603050405020304" pitchFamily="18" charset="0"/>
              </a:rPr>
              <a:t> Vision. Clifton Park, NY, USA: Cengage Learning, 2008</a:t>
            </a:r>
            <a:r>
              <a:rPr lang="en-IN" dirty="0" smtClean="0">
                <a:latin typeface="Times" panose="02020603050405020304" pitchFamily="18" charset="0"/>
                <a:cs typeface="Times" panose="02020603050405020304" pitchFamily="18" charset="0"/>
              </a:rPr>
              <a:t>.</a:t>
            </a:r>
            <a:endParaRPr lang="en-IN" dirty="0">
              <a:latin typeface="Times" panose="02020603050405020304" pitchFamily="18" charset="0"/>
              <a:cs typeface="Times" panose="02020603050405020304" pitchFamily="18" charset="0"/>
            </a:endParaRPr>
          </a:p>
        </p:txBody>
      </p:sp>
    </p:spTree>
    <p:extLst>
      <p:ext uri="{BB962C8B-B14F-4D97-AF65-F5344CB8AC3E}">
        <p14:creationId xmlns="" xmlns:p14="http://schemas.microsoft.com/office/powerpoint/2010/main" val="32877765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53533" y="516467"/>
            <a:ext cx="10253133" cy="5632311"/>
          </a:xfrm>
          <a:prstGeom prst="rect">
            <a:avLst/>
          </a:prstGeom>
          <a:noFill/>
        </p:spPr>
        <p:txBody>
          <a:bodyPr wrap="square" rtlCol="0">
            <a:spAutoFit/>
          </a:bodyPr>
          <a:lstStyle/>
          <a:p>
            <a:pPr algn="just"/>
            <a:r>
              <a:rPr lang="en-IN" sz="2000" dirty="0" smtClean="0">
                <a:latin typeface="Times New Roman" panose="02020603050405020304" pitchFamily="18" charset="0"/>
                <a:cs typeface="Times New Roman" panose="02020603050405020304" pitchFamily="18" charset="0"/>
              </a:rPr>
              <a:t>7.  A. </a:t>
            </a:r>
            <a:r>
              <a:rPr lang="en-IN" sz="2000" dirty="0">
                <a:latin typeface="Times New Roman" panose="02020603050405020304" pitchFamily="18" charset="0"/>
                <a:cs typeface="Times New Roman" panose="02020603050405020304" pitchFamily="18" charset="0"/>
              </a:rPr>
              <a:t>Pathak, Elements of Quantum Computation and Quantum </a:t>
            </a:r>
            <a:r>
              <a:rPr lang="en-IN" sz="2000" dirty="0" err="1">
                <a:latin typeface="Times New Roman" panose="02020603050405020304" pitchFamily="18" charset="0"/>
                <a:cs typeface="Times New Roman" panose="02020603050405020304" pitchFamily="18" charset="0"/>
              </a:rPr>
              <a:t>Communica-tion</a:t>
            </a:r>
            <a:r>
              <a:rPr lang="en-IN" sz="2000" dirty="0">
                <a:latin typeface="Times New Roman" panose="02020603050405020304" pitchFamily="18" charset="0"/>
                <a:cs typeface="Times New Roman" panose="02020603050405020304" pitchFamily="18" charset="0"/>
              </a:rPr>
              <a:t>. Boca Raton, FL, USA: CRC Press, 2013</a:t>
            </a:r>
            <a:r>
              <a:rPr lang="en-IN" sz="2000" dirty="0" smtClean="0">
                <a:latin typeface="Times New Roman" panose="02020603050405020304" pitchFamily="18" charset="0"/>
                <a:cs typeface="Times New Roman" panose="02020603050405020304" pitchFamily="18" charset="0"/>
              </a:rPr>
              <a:t>.</a:t>
            </a:r>
          </a:p>
          <a:p>
            <a:pPr algn="just"/>
            <a:endParaRPr lang="en-IN" sz="2000" dirty="0">
              <a:latin typeface="Times New Roman" panose="02020603050405020304" pitchFamily="18" charset="0"/>
              <a:cs typeface="Times New Roman" panose="02020603050405020304" pitchFamily="18" charset="0"/>
            </a:endParaRPr>
          </a:p>
          <a:p>
            <a:pPr algn="just"/>
            <a:r>
              <a:rPr lang="en-IN" sz="2000" dirty="0" smtClean="0">
                <a:latin typeface="Times New Roman" panose="02020603050405020304" pitchFamily="18" charset="0"/>
                <a:cs typeface="Times New Roman" panose="02020603050405020304" pitchFamily="18" charset="0"/>
              </a:rPr>
              <a:t>8.  </a:t>
            </a:r>
            <a:r>
              <a:rPr lang="en-IN" sz="2000" dirty="0">
                <a:latin typeface="Times New Roman" panose="02020603050405020304" pitchFamily="18" charset="0"/>
                <a:cs typeface="Times New Roman" panose="02020603050405020304" pitchFamily="18" charset="0"/>
              </a:rPr>
              <a:t>N. S. </a:t>
            </a:r>
            <a:r>
              <a:rPr lang="en-IN" sz="2000" dirty="0" err="1">
                <a:latin typeface="Times New Roman" panose="02020603050405020304" pitchFamily="18" charset="0"/>
                <a:cs typeface="Times New Roman" panose="02020603050405020304" pitchFamily="18" charset="0"/>
              </a:rPr>
              <a:t>Yanofsky</a:t>
            </a:r>
            <a:r>
              <a:rPr lang="en-IN" sz="2000" dirty="0">
                <a:latin typeface="Times New Roman" panose="02020603050405020304" pitchFamily="18" charset="0"/>
                <a:cs typeface="Times New Roman" panose="02020603050405020304" pitchFamily="18" charset="0"/>
              </a:rPr>
              <a:t> and M. A. </a:t>
            </a:r>
            <a:r>
              <a:rPr lang="en-IN" sz="2000" dirty="0" err="1">
                <a:latin typeface="Times New Roman" panose="02020603050405020304" pitchFamily="18" charset="0"/>
                <a:cs typeface="Times New Roman" panose="02020603050405020304" pitchFamily="18" charset="0"/>
              </a:rPr>
              <a:t>Mannucci</a:t>
            </a:r>
            <a:r>
              <a:rPr lang="en-IN" sz="2000" dirty="0">
                <a:latin typeface="Times New Roman" panose="02020603050405020304" pitchFamily="18" charset="0"/>
                <a:cs typeface="Times New Roman" panose="02020603050405020304" pitchFamily="18" charset="0"/>
              </a:rPr>
              <a:t>, Quantum Computing for Computer Scientists. Cambridge, U.K.: Cambridge University Press, 2008</a:t>
            </a:r>
            <a:r>
              <a:rPr lang="en-IN" sz="2000" dirty="0" smtClean="0">
                <a:latin typeface="Times New Roman" panose="02020603050405020304" pitchFamily="18" charset="0"/>
                <a:cs typeface="Times New Roman" panose="02020603050405020304" pitchFamily="18" charset="0"/>
              </a:rPr>
              <a:t>.</a:t>
            </a:r>
          </a:p>
          <a:p>
            <a:pPr algn="just"/>
            <a:endParaRPr lang="en-IN" sz="2000" dirty="0">
              <a:latin typeface="Times New Roman" panose="02020603050405020304" pitchFamily="18" charset="0"/>
              <a:cs typeface="Times New Roman" panose="02020603050405020304" pitchFamily="18" charset="0"/>
            </a:endParaRPr>
          </a:p>
          <a:p>
            <a:pPr algn="just"/>
            <a:r>
              <a:rPr lang="en-IN" sz="2000" dirty="0" smtClean="0">
                <a:latin typeface="Times New Roman" panose="02020603050405020304" pitchFamily="18" charset="0"/>
                <a:cs typeface="Times New Roman" panose="02020603050405020304" pitchFamily="18" charset="0"/>
              </a:rPr>
              <a:t>9.  </a:t>
            </a:r>
            <a:r>
              <a:rPr lang="en-IN" sz="2000" dirty="0">
                <a:latin typeface="Times New Roman" panose="02020603050405020304" pitchFamily="18" charset="0"/>
                <a:cs typeface="Times New Roman" panose="02020603050405020304" pitchFamily="18" charset="0"/>
              </a:rPr>
              <a:t>C. Bernhardt, Quantum Computing for Everyone. Cambridge, MA, USA: MIT Press, 2019</a:t>
            </a:r>
            <a:r>
              <a:rPr lang="en-IN" sz="2000" dirty="0" smtClean="0">
                <a:latin typeface="Times New Roman" panose="02020603050405020304" pitchFamily="18" charset="0"/>
                <a:cs typeface="Times New Roman" panose="02020603050405020304" pitchFamily="18" charset="0"/>
              </a:rPr>
              <a:t>.</a:t>
            </a:r>
          </a:p>
          <a:p>
            <a:pPr algn="just"/>
            <a:endParaRPr lang="en-IN" sz="2000" dirty="0">
              <a:latin typeface="Times New Roman" panose="02020603050405020304" pitchFamily="18" charset="0"/>
              <a:cs typeface="Times New Roman" panose="02020603050405020304" pitchFamily="18" charset="0"/>
            </a:endParaRPr>
          </a:p>
          <a:p>
            <a:pPr algn="just"/>
            <a:r>
              <a:rPr lang="en-IN" sz="2000" dirty="0" smtClean="0">
                <a:latin typeface="Times New Roman" panose="02020603050405020304" pitchFamily="18" charset="0"/>
                <a:cs typeface="Times New Roman" panose="02020603050405020304" pitchFamily="18" charset="0"/>
              </a:rPr>
              <a:t>10.  </a:t>
            </a:r>
            <a:r>
              <a:rPr lang="en-IN" sz="2000" dirty="0">
                <a:latin typeface="Times New Roman" panose="02020603050405020304" pitchFamily="18" charset="0"/>
                <a:cs typeface="Times New Roman" panose="02020603050405020304" pitchFamily="18" charset="0"/>
              </a:rPr>
              <a:t>S. E. Venegas-</a:t>
            </a:r>
            <a:r>
              <a:rPr lang="en-IN" sz="2000" dirty="0" err="1">
                <a:latin typeface="Times New Roman" panose="02020603050405020304" pitchFamily="18" charset="0"/>
                <a:cs typeface="Times New Roman" panose="02020603050405020304" pitchFamily="18" charset="0"/>
              </a:rPr>
              <a:t>Andraca</a:t>
            </a:r>
            <a:r>
              <a:rPr lang="en-IN" sz="2000" dirty="0">
                <a:latin typeface="Times New Roman" panose="02020603050405020304" pitchFamily="18" charset="0"/>
                <a:cs typeface="Times New Roman" panose="02020603050405020304" pitchFamily="18" charset="0"/>
              </a:rPr>
              <a:t>, Quantum Walks for Computer Scientists. San Rafael, CA, USA: Morgan &amp; Claypool Publishers, 2008</a:t>
            </a:r>
            <a:r>
              <a:rPr lang="en-IN" sz="2000" dirty="0" smtClean="0">
                <a:latin typeface="Times New Roman" panose="02020603050405020304" pitchFamily="18" charset="0"/>
                <a:cs typeface="Times New Roman" panose="02020603050405020304" pitchFamily="18" charset="0"/>
              </a:rPr>
              <a:t>.</a:t>
            </a:r>
          </a:p>
          <a:p>
            <a:pPr algn="just"/>
            <a:endParaRPr lang="en-IN" sz="2000" dirty="0" smtClean="0">
              <a:latin typeface="Times New Roman" panose="02020603050405020304" pitchFamily="18" charset="0"/>
              <a:cs typeface="Times New Roman" panose="02020603050405020304" pitchFamily="18" charset="0"/>
            </a:endParaRPr>
          </a:p>
          <a:p>
            <a:pPr algn="just"/>
            <a:r>
              <a:rPr lang="en-IN" sz="2000" dirty="0" smtClean="0">
                <a:latin typeface="Times New Roman" panose="02020603050405020304" pitchFamily="18" charset="0"/>
                <a:cs typeface="Times New Roman" panose="02020603050405020304" pitchFamily="18" charset="0"/>
              </a:rPr>
              <a:t>11.  </a:t>
            </a:r>
            <a:r>
              <a:rPr lang="en-IN" sz="2000" dirty="0">
                <a:latin typeface="Times New Roman" panose="02020603050405020304" pitchFamily="18" charset="0"/>
                <a:cs typeface="Times New Roman" panose="02020603050405020304" pitchFamily="18" charset="0"/>
              </a:rPr>
              <a:t>D. A. Forsyth and J. Ponce, Computer Vision: A Modern Approach. Upper Saddle River, NJ, USA: Prentice Hall, 2003</a:t>
            </a:r>
            <a:r>
              <a:rPr lang="en-IN" sz="2000" dirty="0" smtClean="0">
                <a:latin typeface="Times New Roman" panose="02020603050405020304" pitchFamily="18" charset="0"/>
                <a:cs typeface="Times New Roman" panose="02020603050405020304" pitchFamily="18" charset="0"/>
              </a:rPr>
              <a:t>.</a:t>
            </a:r>
          </a:p>
          <a:p>
            <a:pPr algn="just"/>
            <a:endParaRPr lang="en-IN" sz="2000" dirty="0">
              <a:latin typeface="Times New Roman" panose="02020603050405020304" pitchFamily="18" charset="0"/>
              <a:cs typeface="Times New Roman" panose="02020603050405020304" pitchFamily="18" charset="0"/>
            </a:endParaRPr>
          </a:p>
          <a:p>
            <a:pPr algn="just"/>
            <a:r>
              <a:rPr lang="en-IN" sz="2000" dirty="0" smtClean="0">
                <a:latin typeface="Times New Roman" panose="02020603050405020304" pitchFamily="18" charset="0"/>
                <a:cs typeface="Times New Roman" panose="02020603050405020304" pitchFamily="18" charset="0"/>
              </a:rPr>
              <a:t>12.  </a:t>
            </a:r>
            <a:r>
              <a:rPr lang="en-IN" sz="2000" dirty="0">
                <a:latin typeface="Times New Roman" panose="02020603050405020304" pitchFamily="18" charset="0"/>
                <a:cs typeface="Times New Roman" panose="02020603050405020304" pitchFamily="18" charset="0"/>
              </a:rPr>
              <a:t>A. M. </a:t>
            </a:r>
            <a:r>
              <a:rPr lang="en-IN" sz="2000" dirty="0" err="1">
                <a:latin typeface="Times New Roman" panose="02020603050405020304" pitchFamily="18" charset="0"/>
                <a:cs typeface="Times New Roman" panose="02020603050405020304" pitchFamily="18" charset="0"/>
              </a:rPr>
              <a:t>Tekalp</a:t>
            </a:r>
            <a:r>
              <a:rPr lang="en-IN" sz="2000" dirty="0">
                <a:latin typeface="Times New Roman" panose="02020603050405020304" pitchFamily="18" charset="0"/>
                <a:cs typeface="Times New Roman" panose="02020603050405020304" pitchFamily="18" charset="0"/>
              </a:rPr>
              <a:t>, Digital Video Processing. Upper Saddle River, NJ, USA: Prentice Hall, 1995</a:t>
            </a:r>
            <a:r>
              <a:rPr lang="en-IN" sz="2000" dirty="0" smtClean="0">
                <a:latin typeface="Times New Roman" panose="02020603050405020304" pitchFamily="18" charset="0"/>
                <a:cs typeface="Times New Roman" panose="02020603050405020304" pitchFamily="18" charset="0"/>
              </a:rPr>
              <a:t>.</a:t>
            </a:r>
          </a:p>
          <a:p>
            <a:pPr algn="just"/>
            <a:endParaRPr lang="en-IN" sz="2000" dirty="0">
              <a:latin typeface="Times New Roman" panose="02020603050405020304" pitchFamily="18" charset="0"/>
              <a:cs typeface="Times New Roman" panose="02020603050405020304" pitchFamily="18" charset="0"/>
            </a:endParaRPr>
          </a:p>
          <a:p>
            <a:pPr algn="just"/>
            <a:r>
              <a:rPr lang="en-IN" sz="2000" dirty="0" smtClean="0">
                <a:latin typeface="Times New Roman" panose="02020603050405020304" pitchFamily="18" charset="0"/>
                <a:cs typeface="Times New Roman" panose="02020603050405020304" pitchFamily="18" charset="0"/>
              </a:rPr>
              <a:t>13.  </a:t>
            </a:r>
            <a:r>
              <a:rPr lang="en-IN" sz="2000" dirty="0">
                <a:latin typeface="Times New Roman" panose="02020603050405020304" pitchFamily="18" charset="0"/>
                <a:cs typeface="Times New Roman" panose="02020603050405020304" pitchFamily="18" charset="0"/>
              </a:rPr>
              <a:t>I. J. Cox, M. L. Miller, J. A. Bloom, J. </a:t>
            </a:r>
            <a:r>
              <a:rPr lang="en-IN" sz="2000" dirty="0" err="1">
                <a:latin typeface="Times New Roman" panose="02020603050405020304" pitchFamily="18" charset="0"/>
                <a:cs typeface="Times New Roman" panose="02020603050405020304" pitchFamily="18" charset="0"/>
              </a:rPr>
              <a:t>Fridrich</a:t>
            </a:r>
            <a:r>
              <a:rPr lang="en-IN" sz="2000" dirty="0">
                <a:latin typeface="Times New Roman" panose="02020603050405020304" pitchFamily="18" charset="0"/>
                <a:cs typeface="Times New Roman" panose="02020603050405020304" pitchFamily="18" charset="0"/>
              </a:rPr>
              <a:t>, and T. </a:t>
            </a:r>
            <a:r>
              <a:rPr lang="en-IN" sz="2000" dirty="0" err="1">
                <a:latin typeface="Times New Roman" panose="02020603050405020304" pitchFamily="18" charset="0"/>
                <a:cs typeface="Times New Roman" panose="02020603050405020304" pitchFamily="18" charset="0"/>
              </a:rPr>
              <a:t>Kalker</a:t>
            </a:r>
            <a:r>
              <a:rPr lang="en-IN" sz="2000" dirty="0">
                <a:latin typeface="Times New Roman" panose="02020603050405020304" pitchFamily="18" charset="0"/>
                <a:cs typeface="Times New Roman" panose="02020603050405020304" pitchFamily="18" charset="0"/>
              </a:rPr>
              <a:t>, Digital </a:t>
            </a:r>
            <a:r>
              <a:rPr lang="en-IN" sz="2000" dirty="0" err="1">
                <a:latin typeface="Times New Roman" panose="02020603050405020304" pitchFamily="18" charset="0"/>
                <a:cs typeface="Times New Roman" panose="02020603050405020304" pitchFamily="18" charset="0"/>
              </a:rPr>
              <a:t>Wa-termarking</a:t>
            </a:r>
            <a:r>
              <a:rPr lang="en-IN" sz="2000" dirty="0">
                <a:latin typeface="Times New Roman" panose="02020603050405020304" pitchFamily="18" charset="0"/>
                <a:cs typeface="Times New Roman" panose="02020603050405020304" pitchFamily="18" charset="0"/>
              </a:rPr>
              <a:t> and Steganography, 2nd ed. Burlington, MA, USA: Morgan </a:t>
            </a:r>
            <a:r>
              <a:rPr lang="en-IN" sz="2000" dirty="0" err="1">
                <a:latin typeface="Times New Roman" panose="02020603050405020304" pitchFamily="18" charset="0"/>
                <a:cs typeface="Times New Roman" panose="02020603050405020304" pitchFamily="18" charset="0"/>
              </a:rPr>
              <a:t>Kauf-mann</a:t>
            </a:r>
            <a:r>
              <a:rPr lang="en-IN" sz="2000" dirty="0">
                <a:latin typeface="Times New Roman" panose="02020603050405020304" pitchFamily="18" charset="0"/>
                <a:cs typeface="Times New Roman" panose="02020603050405020304" pitchFamily="18" charset="0"/>
              </a:rPr>
              <a:t> Publishers, 2008</a:t>
            </a:r>
            <a:r>
              <a:rPr lang="en-IN" sz="2000" dirty="0" smtClean="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37485639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67540" y="2512291"/>
            <a:ext cx="4711148" cy="1015663"/>
          </a:xfrm>
          <a:prstGeom prst="rect">
            <a:avLst/>
          </a:prstGeom>
          <a:noFill/>
        </p:spPr>
        <p:txBody>
          <a:bodyPr wrap="square" rtlCol="0">
            <a:spAutoFit/>
          </a:bodyPr>
          <a:lstStyle/>
          <a:p>
            <a:r>
              <a:rPr lang="en-US" sz="6000" dirty="0" smtClean="0">
                <a:solidFill>
                  <a:srgbClr val="0000FF"/>
                </a:solidFill>
                <a:latin typeface="Times New Roman" panose="02020603050405020304" pitchFamily="18" charset="0"/>
                <a:cs typeface="Times New Roman" panose="02020603050405020304" pitchFamily="18" charset="0"/>
              </a:rPr>
              <a:t>THANK YOU</a:t>
            </a:r>
            <a:endParaRPr lang="en-IN" sz="6000" dirty="0">
              <a:solidFill>
                <a:srgbClr val="0000FF"/>
              </a:solidFill>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8460407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637</TotalTime>
  <Words>1613</Words>
  <Application>Microsoft Office PowerPoint</Application>
  <PresentationFormat>Custom</PresentationFormat>
  <Paragraphs>218</Paragraphs>
  <Slides>20</Slides>
  <Notes>2</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U.S.N.Raju</dc:creator>
  <cp:lastModifiedBy>vighn</cp:lastModifiedBy>
  <cp:revision>54</cp:revision>
  <dcterms:created xsi:type="dcterms:W3CDTF">2026-06-13T04:08:54Z</dcterms:created>
  <dcterms:modified xsi:type="dcterms:W3CDTF">2026-06-17T13:23:36Z</dcterms:modified>
</cp:coreProperties>
</file>